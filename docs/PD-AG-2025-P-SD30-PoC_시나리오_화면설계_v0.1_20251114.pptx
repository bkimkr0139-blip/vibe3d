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3364" r:id="rId3"/>
    <p:sldId id="3475" r:id="rId4"/>
    <p:sldId id="3472" r:id="rId5"/>
    <p:sldId id="3476" r:id="rId6"/>
    <p:sldId id="3481" r:id="rId7"/>
    <p:sldId id="3479" r:id="rId8"/>
    <p:sldId id="3480" r:id="rId9"/>
    <p:sldId id="3474" r:id="rId10"/>
  </p:sldIdLst>
  <p:sldSz cx="9144000" cy="5715000" type="screen16x10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기본 구역" id="{FA4F592A-7BE1-4CB9-B037-02F28D0D2C5D}">
          <p14:sldIdLst>
            <p14:sldId id="256"/>
          </p14:sldIdLst>
        </p14:section>
        <p14:section name="공통" id="{69FE1636-9EED-43A3-84FD-E6BC9E8843A9}">
          <p14:sldIdLst>
            <p14:sldId id="3364"/>
            <p14:sldId id="3475"/>
            <p14:sldId id="3472"/>
            <p14:sldId id="3476"/>
            <p14:sldId id="3481"/>
            <p14:sldId id="3479"/>
            <p14:sldId id="3480"/>
            <p14:sldId id="34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8600"/>
    <a:srgbClr val="B6EC80"/>
    <a:srgbClr val="014AFF"/>
    <a:srgbClr val="D9EAFF"/>
    <a:srgbClr val="BFBFBF"/>
    <a:srgbClr val="FFFFFF"/>
    <a:srgbClr val="2463FF"/>
    <a:srgbClr val="4D72BC"/>
    <a:srgbClr val="0039C8"/>
    <a:srgbClr val="C8E7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C2C297-DBA1-4DD1-99DE-D7A8A66B7A42}">
  <a:tblStyle styleId="{0AC2C297-DBA1-4DD1-99DE-D7A8A66B7A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00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864" y="120"/>
      </p:cViewPr>
      <p:guideLst>
        <p:guide orient="horz" pos="1800"/>
        <p:guide pos="2880"/>
      </p:guideLst>
    </p:cSldViewPr>
  </p:slideViewPr>
  <p:notesTextViewPr>
    <p:cViewPr>
      <p:scale>
        <a:sx n="400" d="100"/>
        <a:sy n="400" d="100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234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배양온도</c:v>
                </c:pt>
              </c:strCache>
            </c:strRef>
          </c:tx>
          <c:spPr>
            <a:ln w="28575" cap="rnd">
              <a:solidFill>
                <a:schemeClr val="accent1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항목 1</c:v>
                </c:pt>
                <c:pt idx="1">
                  <c:v>항목 2</c:v>
                </c:pt>
                <c:pt idx="2">
                  <c:v>항목 3</c:v>
                </c:pt>
                <c:pt idx="3">
                  <c:v>항목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21</c:v>
                </c:pt>
                <c:pt idx="2">
                  <c:v>21</c:v>
                </c:pt>
                <c:pt idx="3">
                  <c:v>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2A-43AD-880F-E73969C15D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60044591"/>
        <c:axId val="360049871"/>
      </c:lineChart>
      <c:catAx>
        <c:axId val="36004459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360049871"/>
        <c:crosses val="autoZero"/>
        <c:auto val="1"/>
        <c:lblAlgn val="ctr"/>
        <c:lblOffset val="100"/>
        <c:noMultiLvlLbl val="0"/>
      </c:catAx>
      <c:valAx>
        <c:axId val="36004987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360044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2">
        <a:lumMod val="60000"/>
        <a:lumOff val="40000"/>
      </a:schemeClr>
    </a:solidFill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03A2D443-0298-4E25-FD5F-150EE169F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763870343b_0_38:notes">
            <a:extLst>
              <a:ext uri="{FF2B5EF4-FFF2-40B4-BE49-F238E27FC236}">
                <a16:creationId xmlns:a16="http://schemas.microsoft.com/office/drawing/2014/main" id="{BA878197-A12F-A350-C784-94097D3DEC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763870343b_0_38:notes">
            <a:extLst>
              <a:ext uri="{FF2B5EF4-FFF2-40B4-BE49-F238E27FC236}">
                <a16:creationId xmlns:a16="http://schemas.microsoft.com/office/drawing/2014/main" id="{19CC96D3-E019-08B6-0314-CD70EEDDFE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0934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3A9A1854-C999-D1E9-5454-5DBE19A33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763870343b_0_38:notes">
            <a:extLst>
              <a:ext uri="{FF2B5EF4-FFF2-40B4-BE49-F238E27FC236}">
                <a16:creationId xmlns:a16="http://schemas.microsoft.com/office/drawing/2014/main" id="{DCEE95DC-4BBA-84EA-9791-3154453F68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763870343b_0_38:notes">
            <a:extLst>
              <a:ext uri="{FF2B5EF4-FFF2-40B4-BE49-F238E27FC236}">
                <a16:creationId xmlns:a16="http://schemas.microsoft.com/office/drawing/2014/main" id="{E1CA1176-DA0B-930C-72FF-30586400EB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7619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FB7E64C4-D91E-0DC3-DD0F-3800C295C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763870343b_0_38:notes">
            <a:extLst>
              <a:ext uri="{FF2B5EF4-FFF2-40B4-BE49-F238E27FC236}">
                <a16:creationId xmlns:a16="http://schemas.microsoft.com/office/drawing/2014/main" id="{3C0F966F-293C-80F4-D273-C7E96EFC5E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763870343b_0_38:notes">
            <a:extLst>
              <a:ext uri="{FF2B5EF4-FFF2-40B4-BE49-F238E27FC236}">
                <a16:creationId xmlns:a16="http://schemas.microsoft.com/office/drawing/2014/main" id="{D333C58A-5838-B343-5596-147524DF18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2018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787701A-E62E-CFB9-79C9-902F34D5C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1c39f6eeb7_0_102:notes">
            <a:extLst>
              <a:ext uri="{FF2B5EF4-FFF2-40B4-BE49-F238E27FC236}">
                <a16:creationId xmlns:a16="http://schemas.microsoft.com/office/drawing/2014/main" id="{D79F8EE6-5D95-0B0D-81CC-1E7B1B0C33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1c39f6eeb7_0_102:notes">
            <a:extLst>
              <a:ext uri="{FF2B5EF4-FFF2-40B4-BE49-F238E27FC236}">
                <a16:creationId xmlns:a16="http://schemas.microsoft.com/office/drawing/2014/main" id="{77D72A37-8D46-0396-1709-95D8692540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9098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8F99F26B-E3BC-6D58-0943-2C914059E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763870343b_0_38:notes">
            <a:extLst>
              <a:ext uri="{FF2B5EF4-FFF2-40B4-BE49-F238E27FC236}">
                <a16:creationId xmlns:a16="http://schemas.microsoft.com/office/drawing/2014/main" id="{8D16D7CD-F244-FA8B-A8F4-4E399FE9D4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763870343b_0_38:notes">
            <a:extLst>
              <a:ext uri="{FF2B5EF4-FFF2-40B4-BE49-F238E27FC236}">
                <a16:creationId xmlns:a16="http://schemas.microsoft.com/office/drawing/2014/main" id="{4EA8433A-719D-4F72-A971-17AF78E248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4670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A0204E98-FAC9-2099-044B-A9A3425E4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763870343b_0_38:notes">
            <a:extLst>
              <a:ext uri="{FF2B5EF4-FFF2-40B4-BE49-F238E27FC236}">
                <a16:creationId xmlns:a16="http://schemas.microsoft.com/office/drawing/2014/main" id="{5E3BFE3F-4E15-B117-23FA-A5A4E9EBE0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763870343b_0_38:notes">
            <a:extLst>
              <a:ext uri="{FF2B5EF4-FFF2-40B4-BE49-F238E27FC236}">
                <a16:creationId xmlns:a16="http://schemas.microsoft.com/office/drawing/2014/main" id="{E32C6886-E6ED-330C-DA86-6910CAA82A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84498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C94679BF-6434-ABCC-07A9-B0BA79B33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763870343b_0_38:notes">
            <a:extLst>
              <a:ext uri="{FF2B5EF4-FFF2-40B4-BE49-F238E27FC236}">
                <a16:creationId xmlns:a16="http://schemas.microsoft.com/office/drawing/2014/main" id="{E70D6DC5-FB23-AF05-16B5-2ABC2ADE5C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763870343b_0_38:notes">
            <a:extLst>
              <a:ext uri="{FF2B5EF4-FFF2-40B4-BE49-F238E27FC236}">
                <a16:creationId xmlns:a16="http://schemas.microsoft.com/office/drawing/2014/main" id="{5B6FC8B0-5838-5B2A-7A1D-82A1AF7EB5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09634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>
          <a:extLst>
            <a:ext uri="{FF2B5EF4-FFF2-40B4-BE49-F238E27FC236}">
              <a16:creationId xmlns:a16="http://schemas.microsoft.com/office/drawing/2014/main" id="{85B11828-096A-BC8B-D78F-CAE79B220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763870343b_0_38:notes">
            <a:extLst>
              <a:ext uri="{FF2B5EF4-FFF2-40B4-BE49-F238E27FC236}">
                <a16:creationId xmlns:a16="http://schemas.microsoft.com/office/drawing/2014/main" id="{93841DB0-9AEE-5670-0570-AB9C5D6808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763870343b_0_38:notes">
            <a:extLst>
              <a:ext uri="{FF2B5EF4-FFF2-40B4-BE49-F238E27FC236}">
                <a16:creationId xmlns:a16="http://schemas.microsoft.com/office/drawing/2014/main" id="{26956CFB-169B-3F8C-E838-5322E4A9A1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3443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</p:spPr>
        <p:txBody>
          <a:bodyPr spcFirstLastPara="1" wrap="square" lIns="95400" tIns="95400" rIns="95400" bIns="954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1" y="3149028"/>
            <a:ext cx="8520600" cy="880500"/>
          </a:xfrm>
          <a:prstGeom prst="rect">
            <a:avLst/>
          </a:prstGeom>
        </p:spPr>
        <p:txBody>
          <a:bodyPr spcFirstLastPara="1" wrap="square" lIns="95400" tIns="95400" rIns="95400" bIns="954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5400" tIns="95400" rIns="95400" bIns="954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userDrawn="1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4377664" y="5348309"/>
            <a:ext cx="3945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800">
                <a:solidFill>
                  <a:srgbClr val="595959"/>
                </a:solidFill>
                <a:latin typeface="Gothic A1"/>
                <a:ea typeface="Gothic A1"/>
                <a:cs typeface="Gothic A1"/>
                <a:sym typeface="Gothic A1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800">
              <a:solidFill>
                <a:srgbClr val="59595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4B14C3ED-D037-2384-AC86-78AF2CC870C3}"/>
              </a:ext>
            </a:extLst>
          </p:cNvPr>
          <p:cNvCxnSpPr>
            <a:cxnSpLocks/>
          </p:cNvCxnSpPr>
          <p:nvPr userDrawn="1"/>
        </p:nvCxnSpPr>
        <p:spPr>
          <a:xfrm>
            <a:off x="246187" y="552815"/>
            <a:ext cx="8737465" cy="0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텍스트 개체 틀 9">
            <a:extLst>
              <a:ext uri="{FF2B5EF4-FFF2-40B4-BE49-F238E27FC236}">
                <a16:creationId xmlns:a16="http://schemas.microsoft.com/office/drawing/2014/main" id="{56461367-76BF-C658-3C12-E5E729FBF71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187" y="198439"/>
            <a:ext cx="8737465" cy="319659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텍스트</a:t>
            </a:r>
          </a:p>
        </p:txBody>
      </p:sp>
      <p:pic>
        <p:nvPicPr>
          <p:cNvPr id="4" name="Google Shape;20;p4">
            <a:extLst>
              <a:ext uri="{FF2B5EF4-FFF2-40B4-BE49-F238E27FC236}">
                <a16:creationId xmlns:a16="http://schemas.microsoft.com/office/drawing/2014/main" id="{49731880-9FBB-7AAA-9500-DDD4EEBACE3A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20567" t="35226" r="20767" b="35166"/>
          <a:stretch/>
        </p:blipFill>
        <p:spPr>
          <a:xfrm>
            <a:off x="143729" y="5425900"/>
            <a:ext cx="983749" cy="1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/>
        </p:nvSpPr>
        <p:spPr>
          <a:xfrm>
            <a:off x="4377664" y="5348309"/>
            <a:ext cx="394500" cy="2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ctr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" sz="800">
                <a:solidFill>
                  <a:srgbClr val="595959"/>
                </a:solidFill>
                <a:latin typeface="Gothic A1"/>
                <a:ea typeface="Gothic A1"/>
                <a:cs typeface="Gothic A1"/>
                <a:sym typeface="Gothic A1"/>
              </a:rPr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800">
              <a:solidFill>
                <a:srgbClr val="595959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l="20567" t="35226" r="20767" b="35166"/>
          <a:stretch/>
        </p:blipFill>
        <p:spPr>
          <a:xfrm>
            <a:off x="143729" y="5425900"/>
            <a:ext cx="983749" cy="126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" name="Google Shape;21;p4"/>
          <p:cNvGraphicFramePr/>
          <p:nvPr/>
        </p:nvGraphicFramePr>
        <p:xfrm>
          <a:off x="143730" y="193055"/>
          <a:ext cx="8862376" cy="266575"/>
        </p:xfrm>
        <a:graphic>
          <a:graphicData uri="http://schemas.openxmlformats.org/drawingml/2006/table">
            <a:tbl>
              <a:tblPr>
                <a:noFill/>
                <a:tableStyleId>{0AC2C297-DBA1-4DD1-99DE-D7A8A66B7A42}</a:tableStyleId>
              </a:tblPr>
              <a:tblGrid>
                <a:gridCol w="65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16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1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3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9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3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347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6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>
                          <a:latin typeface="Gothic A1 Medium"/>
                          <a:ea typeface="Gothic A1 Medium"/>
                          <a:cs typeface="Gothic A1 Medium"/>
                          <a:sym typeface="Gothic A1 Medium"/>
                        </a:rPr>
                        <a:t>화면명</a:t>
                      </a:r>
                      <a:endParaRPr sz="700">
                        <a:latin typeface="Gothic A1 Medium"/>
                        <a:ea typeface="Gothic A1 Medium"/>
                        <a:cs typeface="Gothic A1 Medium"/>
                        <a:sym typeface="Gothic A1 Medium"/>
                      </a:endParaRPr>
                    </a:p>
                  </a:txBody>
                  <a:tcPr marL="78200" marR="78200" marT="69125" marB="69125" anchor="ctr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700" dirty="0">
                        <a:latin typeface="Gothic A1 Medium"/>
                        <a:ea typeface="Gothic A1 Medium"/>
                        <a:cs typeface="Gothic A1 Medium"/>
                        <a:sym typeface="Gothic A1 Medium"/>
                      </a:endParaRPr>
                    </a:p>
                  </a:txBody>
                  <a:tcPr marL="78200" marR="78200" marT="69125" marB="69125" anchor="ctr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>
                          <a:latin typeface="Gothic A1 Medium"/>
                          <a:ea typeface="Gothic A1 Medium"/>
                          <a:cs typeface="Gothic A1 Medium"/>
                          <a:sym typeface="Gothic A1 Medium"/>
                        </a:rPr>
                        <a:t>화면경로</a:t>
                      </a:r>
                      <a:endParaRPr sz="700">
                        <a:latin typeface="Gothic A1 Medium"/>
                        <a:ea typeface="Gothic A1 Medium"/>
                        <a:cs typeface="Gothic A1 Medium"/>
                        <a:sym typeface="Gothic A1 Medium"/>
                      </a:endParaRPr>
                    </a:p>
                  </a:txBody>
                  <a:tcPr marL="78200" marR="78200" marT="69125" marB="69125" anchor="ctr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700" dirty="0">
                        <a:solidFill>
                          <a:srgbClr val="000000"/>
                        </a:solidFill>
                        <a:latin typeface="Gothic A1 Medium"/>
                        <a:ea typeface="Gothic A1 Medium"/>
                        <a:cs typeface="Gothic A1 Medium"/>
                        <a:sym typeface="Gothic A1 Medium"/>
                      </a:endParaRPr>
                    </a:p>
                  </a:txBody>
                  <a:tcPr marL="78200" marR="78200" marT="69125" marB="69125" anchor="ctr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>
                          <a:latin typeface="Gothic A1 Medium"/>
                          <a:ea typeface="Gothic A1 Medium"/>
                          <a:cs typeface="Gothic A1 Medium"/>
                          <a:sym typeface="Gothic A1 Medium"/>
                        </a:rPr>
                        <a:t>화면ID</a:t>
                      </a:r>
                      <a:endParaRPr sz="700">
                        <a:latin typeface="Gothic A1 Medium"/>
                        <a:ea typeface="Gothic A1 Medium"/>
                        <a:cs typeface="Gothic A1 Medium"/>
                        <a:sym typeface="Gothic A1 Medium"/>
                      </a:endParaRPr>
                    </a:p>
                  </a:txBody>
                  <a:tcPr marL="78200" marR="78200" marT="69125" marB="69125" anchor="ctr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700">
                        <a:solidFill>
                          <a:srgbClr val="000000"/>
                        </a:solidFill>
                        <a:latin typeface="Gothic A1 Medium"/>
                        <a:ea typeface="Gothic A1 Medium"/>
                        <a:cs typeface="Gothic A1 Medium"/>
                        <a:sym typeface="Gothic A1 Medium"/>
                      </a:endParaRPr>
                    </a:p>
                  </a:txBody>
                  <a:tcPr marL="78200" marR="78200" marT="69125" marB="69125" anchor="ctr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700">
                          <a:latin typeface="Gothic A1 Medium"/>
                          <a:ea typeface="Gothic A1 Medium"/>
                          <a:cs typeface="Gothic A1 Medium"/>
                          <a:sym typeface="Gothic A1 Medium"/>
                        </a:rPr>
                        <a:t>업데이트</a:t>
                      </a:r>
                      <a:endParaRPr sz="700">
                        <a:latin typeface="Gothic A1 Medium"/>
                        <a:ea typeface="Gothic A1 Medium"/>
                        <a:cs typeface="Gothic A1 Medium"/>
                        <a:sym typeface="Gothic A1 Medium"/>
                      </a:endParaRPr>
                    </a:p>
                  </a:txBody>
                  <a:tcPr marL="78200" marR="78200" marT="69125" marB="69125" anchor="ctr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700" dirty="0">
                        <a:latin typeface="Gothic A1 Medium"/>
                        <a:ea typeface="Gothic A1 Medium"/>
                        <a:cs typeface="Gothic A1 Medium"/>
                        <a:sym typeface="Gothic A1 Medium"/>
                      </a:endParaRPr>
                    </a:p>
                  </a:txBody>
                  <a:tcPr marL="78200" marR="78200" marT="69125" marB="69125" anchor="ctr">
                    <a:lnL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6E1B19F2-3C85-DF39-65F9-0E58413B4F56}"/>
              </a:ext>
            </a:extLst>
          </p:cNvPr>
          <p:cNvSpPr/>
          <p:nvPr userDrawn="1"/>
        </p:nvSpPr>
        <p:spPr>
          <a:xfrm>
            <a:off x="143729" y="517677"/>
            <a:ext cx="6553852" cy="4830632"/>
          </a:xfrm>
          <a:prstGeom prst="rect">
            <a:avLst/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0" dirty="0">
              <a:latin typeface="한화고딕 L" panose="02020503020101020101" pitchFamily="18" charset="-127"/>
              <a:ea typeface="한화고딕 L" panose="02020503020101020101" pitchFamily="18" charset="-127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1" y="494472"/>
            <a:ext cx="8520600" cy="636300"/>
          </a:xfrm>
          <a:prstGeom prst="rect">
            <a:avLst/>
          </a:prstGeom>
        </p:spPr>
        <p:txBody>
          <a:bodyPr spcFirstLastPara="1" wrap="square" lIns="95400" tIns="95400" rIns="95400" bIns="954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1" y="1280528"/>
            <a:ext cx="3999900" cy="3795900"/>
          </a:xfrm>
          <a:prstGeom prst="rect">
            <a:avLst/>
          </a:prstGeom>
        </p:spPr>
        <p:txBody>
          <a:bodyPr spcFirstLastPara="1" wrap="square" lIns="95400" tIns="95400" rIns="95400" bIns="95400" anchor="t" anchorCtr="0">
            <a:noAutofit/>
          </a:bodyPr>
          <a:lstStyle>
            <a:lvl1pPr marL="457182" lvl="0" indent="-323837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364" lvl="1" indent="-304788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45" lvl="2" indent="-304788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27" lvl="3" indent="-304788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09" lvl="4" indent="-304788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091" lvl="5" indent="-304788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272" lvl="6" indent="-304788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454" lvl="7" indent="-304788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36" lvl="8" indent="-304788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1" y="1280528"/>
            <a:ext cx="3999900" cy="3795900"/>
          </a:xfrm>
          <a:prstGeom prst="rect">
            <a:avLst/>
          </a:prstGeom>
        </p:spPr>
        <p:txBody>
          <a:bodyPr spcFirstLastPara="1" wrap="square" lIns="95400" tIns="95400" rIns="95400" bIns="95400" anchor="t" anchorCtr="0">
            <a:noAutofit/>
          </a:bodyPr>
          <a:lstStyle>
            <a:lvl1pPr marL="457182" lvl="0" indent="-323837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364" lvl="1" indent="-304788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45" lvl="2" indent="-304788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27" lvl="3" indent="-304788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09" lvl="4" indent="-304788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091" lvl="5" indent="-304788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272" lvl="6" indent="-304788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454" lvl="7" indent="-304788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36" lvl="8" indent="-304788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5400" tIns="95400" rIns="95400" bIns="954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01" y="494472"/>
            <a:ext cx="8520600" cy="636300"/>
          </a:xfrm>
          <a:prstGeom prst="rect">
            <a:avLst/>
          </a:prstGeom>
        </p:spPr>
        <p:txBody>
          <a:bodyPr spcFirstLastPara="1" wrap="square" lIns="95400" tIns="95400" rIns="95400" bIns="954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5400" tIns="95400" rIns="95400" bIns="954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spcFirstLastPara="1" wrap="square" lIns="95400" tIns="95400" rIns="95400" bIns="954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544000"/>
            <a:ext cx="2808000" cy="3532500"/>
          </a:xfrm>
          <a:prstGeom prst="rect">
            <a:avLst/>
          </a:prstGeom>
        </p:spPr>
        <p:txBody>
          <a:bodyPr spcFirstLastPara="1" wrap="square" lIns="95400" tIns="95400" rIns="95400" bIns="95400" anchor="t" anchorCtr="0">
            <a:noAutofit/>
          </a:bodyPr>
          <a:lstStyle>
            <a:lvl1pPr marL="457182" lvl="0" indent="-304788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364" lvl="1" indent="-304788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545" lvl="2" indent="-304788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727" lvl="3" indent="-304788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909" lvl="4" indent="-304788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091" lvl="5" indent="-304788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272" lvl="6" indent="-304788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454" lvl="7" indent="-304788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636" lvl="8" indent="-304788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5400" tIns="95400" rIns="95400" bIns="954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</p:spPr>
        <p:txBody>
          <a:bodyPr spcFirstLastPara="1" wrap="square" lIns="95400" tIns="95400" rIns="95400" bIns="954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5400" tIns="95400" rIns="95400" bIns="954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5400" tIns="95400" rIns="95400" bIns="954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1" y="1370194"/>
            <a:ext cx="4045200" cy="1647000"/>
          </a:xfrm>
          <a:prstGeom prst="rect">
            <a:avLst/>
          </a:prstGeom>
        </p:spPr>
        <p:txBody>
          <a:bodyPr spcFirstLastPara="1" wrap="square" lIns="95400" tIns="95400" rIns="95400" bIns="954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algn="ctr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1" y="3114528"/>
            <a:ext cx="4045200" cy="1372200"/>
          </a:xfrm>
          <a:prstGeom prst="rect">
            <a:avLst/>
          </a:prstGeom>
        </p:spPr>
        <p:txBody>
          <a:bodyPr spcFirstLastPara="1" wrap="square" lIns="95400" tIns="95400" rIns="95400" bIns="954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1" y="804528"/>
            <a:ext cx="3837000" cy="4105800"/>
          </a:xfrm>
          <a:prstGeom prst="rect">
            <a:avLst/>
          </a:prstGeom>
        </p:spPr>
        <p:txBody>
          <a:bodyPr spcFirstLastPara="1" wrap="square" lIns="95400" tIns="95400" rIns="95400" bIns="95400" anchor="ctr" anchorCtr="0">
            <a:noAutofit/>
          </a:bodyPr>
          <a:lstStyle>
            <a:lvl1pPr marL="457182" lvl="0" indent="-349236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364" lvl="1" indent="-323837">
              <a:spcBef>
                <a:spcPts val="1600"/>
              </a:spcBef>
              <a:spcAft>
                <a:spcPts val="0"/>
              </a:spcAft>
              <a:buSzPts val="1500"/>
              <a:buChar char="○"/>
              <a:defRPr/>
            </a:lvl2pPr>
            <a:lvl3pPr marL="1371545" lvl="2" indent="-323837"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3pPr>
            <a:lvl4pPr marL="1828727" lvl="3" indent="-323837"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4pPr>
            <a:lvl5pPr marL="2285909" lvl="4" indent="-323837">
              <a:spcBef>
                <a:spcPts val="1600"/>
              </a:spcBef>
              <a:spcAft>
                <a:spcPts val="0"/>
              </a:spcAft>
              <a:buSzPts val="1500"/>
              <a:buChar char="○"/>
              <a:defRPr/>
            </a:lvl5pPr>
            <a:lvl6pPr marL="2743091" lvl="5" indent="-323837"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6pPr>
            <a:lvl7pPr marL="3200272" lvl="6" indent="-323837"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7pPr>
            <a:lvl8pPr marL="3657454" lvl="7" indent="-323837">
              <a:spcBef>
                <a:spcPts val="1600"/>
              </a:spcBef>
              <a:spcAft>
                <a:spcPts val="0"/>
              </a:spcAft>
              <a:buSzPts val="1500"/>
              <a:buChar char="○"/>
              <a:defRPr/>
            </a:lvl8pPr>
            <a:lvl9pPr marL="4114636" lvl="8" indent="-323837">
              <a:spcBef>
                <a:spcPts val="1600"/>
              </a:spcBef>
              <a:spcAft>
                <a:spcPts val="160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5400" tIns="95400" rIns="95400" bIns="954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1701" y="4700639"/>
            <a:ext cx="5998800" cy="672300"/>
          </a:xfrm>
          <a:prstGeom prst="rect">
            <a:avLst/>
          </a:prstGeom>
        </p:spPr>
        <p:txBody>
          <a:bodyPr spcFirstLastPara="1" wrap="square" lIns="95400" tIns="95400" rIns="95400" bIns="95400" anchor="ctr" anchorCtr="0">
            <a:noAutofit/>
          </a:bodyPr>
          <a:lstStyle>
            <a:lvl1pPr marL="457182" lvl="0" indent="-22859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5400" tIns="95400" rIns="95400" bIns="954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1" y="1229028"/>
            <a:ext cx="8520600" cy="2181600"/>
          </a:xfrm>
          <a:prstGeom prst="rect">
            <a:avLst/>
          </a:prstGeom>
        </p:spPr>
        <p:txBody>
          <a:bodyPr spcFirstLastPara="1" wrap="square" lIns="95400" tIns="95400" rIns="95400" bIns="954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500"/>
              <a:buNone/>
              <a:defRPr sz="12499"/>
            </a:lvl1pPr>
            <a:lvl2pPr lvl="1" algn="ctr">
              <a:spcBef>
                <a:spcPts val="0"/>
              </a:spcBef>
              <a:spcAft>
                <a:spcPts val="0"/>
              </a:spcAft>
              <a:buSzPts val="12500"/>
              <a:buNone/>
              <a:defRPr sz="12499"/>
            </a:lvl2pPr>
            <a:lvl3pPr lvl="2" algn="ctr">
              <a:spcBef>
                <a:spcPts val="0"/>
              </a:spcBef>
              <a:spcAft>
                <a:spcPts val="0"/>
              </a:spcAft>
              <a:buSzPts val="12500"/>
              <a:buNone/>
              <a:defRPr sz="12499"/>
            </a:lvl3pPr>
            <a:lvl4pPr lvl="3" algn="ctr">
              <a:spcBef>
                <a:spcPts val="0"/>
              </a:spcBef>
              <a:spcAft>
                <a:spcPts val="0"/>
              </a:spcAft>
              <a:buSzPts val="12500"/>
              <a:buNone/>
              <a:defRPr sz="12499"/>
            </a:lvl4pPr>
            <a:lvl5pPr lvl="4" algn="ctr">
              <a:spcBef>
                <a:spcPts val="0"/>
              </a:spcBef>
              <a:spcAft>
                <a:spcPts val="0"/>
              </a:spcAft>
              <a:buSzPts val="12500"/>
              <a:buNone/>
              <a:defRPr sz="12499"/>
            </a:lvl5pPr>
            <a:lvl6pPr lvl="5" algn="ctr">
              <a:spcBef>
                <a:spcPts val="0"/>
              </a:spcBef>
              <a:spcAft>
                <a:spcPts val="0"/>
              </a:spcAft>
              <a:buSzPts val="12500"/>
              <a:buNone/>
              <a:defRPr sz="12499"/>
            </a:lvl6pPr>
            <a:lvl7pPr lvl="6" algn="ctr">
              <a:spcBef>
                <a:spcPts val="0"/>
              </a:spcBef>
              <a:spcAft>
                <a:spcPts val="0"/>
              </a:spcAft>
              <a:buSzPts val="12500"/>
              <a:buNone/>
              <a:defRPr sz="12499"/>
            </a:lvl7pPr>
            <a:lvl8pPr lvl="7" algn="ctr">
              <a:spcBef>
                <a:spcPts val="0"/>
              </a:spcBef>
              <a:spcAft>
                <a:spcPts val="0"/>
              </a:spcAft>
              <a:buSzPts val="12500"/>
              <a:buNone/>
              <a:defRPr sz="12499"/>
            </a:lvl8pPr>
            <a:lvl9pPr lvl="8" algn="ctr">
              <a:spcBef>
                <a:spcPts val="0"/>
              </a:spcBef>
              <a:spcAft>
                <a:spcPts val="0"/>
              </a:spcAft>
              <a:buSzPts val="12500"/>
              <a:buNone/>
              <a:defRPr sz="12499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1" y="3502472"/>
            <a:ext cx="8520600" cy="1445400"/>
          </a:xfrm>
          <a:prstGeom prst="rect">
            <a:avLst/>
          </a:prstGeom>
        </p:spPr>
        <p:txBody>
          <a:bodyPr spcFirstLastPara="1" wrap="square" lIns="95400" tIns="95400" rIns="95400" bIns="95400" anchor="t" anchorCtr="0">
            <a:noAutofit/>
          </a:bodyPr>
          <a:lstStyle>
            <a:lvl1pPr marL="457182" lvl="0" indent="-349236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1pPr>
            <a:lvl2pPr marL="914364" lvl="1" indent="-323837" algn="ctr">
              <a:spcBef>
                <a:spcPts val="1600"/>
              </a:spcBef>
              <a:spcAft>
                <a:spcPts val="0"/>
              </a:spcAft>
              <a:buSzPts val="1500"/>
              <a:buChar char="○"/>
              <a:defRPr/>
            </a:lvl2pPr>
            <a:lvl3pPr marL="1371545" lvl="2" indent="-323837" algn="ctr"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3pPr>
            <a:lvl4pPr marL="1828727" lvl="3" indent="-323837" algn="ctr"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4pPr>
            <a:lvl5pPr marL="2285909" lvl="4" indent="-323837" algn="ctr">
              <a:spcBef>
                <a:spcPts val="1600"/>
              </a:spcBef>
              <a:spcAft>
                <a:spcPts val="0"/>
              </a:spcAft>
              <a:buSzPts val="1500"/>
              <a:buChar char="○"/>
              <a:defRPr/>
            </a:lvl5pPr>
            <a:lvl6pPr marL="2743091" lvl="5" indent="-323837" algn="ctr"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6pPr>
            <a:lvl7pPr marL="3200272" lvl="6" indent="-323837" algn="ctr"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7pPr>
            <a:lvl8pPr marL="3657454" lvl="7" indent="-323837" algn="ctr">
              <a:spcBef>
                <a:spcPts val="1600"/>
              </a:spcBef>
              <a:spcAft>
                <a:spcPts val="0"/>
              </a:spcAft>
              <a:buSzPts val="1500"/>
              <a:buChar char="○"/>
              <a:defRPr/>
            </a:lvl8pPr>
            <a:lvl9pPr marL="4114636" lvl="8" indent="-323837" algn="ctr">
              <a:spcBef>
                <a:spcPts val="1600"/>
              </a:spcBef>
              <a:spcAft>
                <a:spcPts val="1600"/>
              </a:spcAft>
              <a:buSzPts val="15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</p:spPr>
        <p:txBody>
          <a:bodyPr spcFirstLastPara="1" wrap="square" lIns="95400" tIns="95400" rIns="95400" bIns="954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1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00" tIns="95400" rIns="95400" bIns="954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1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00" tIns="95400" rIns="95400" bIns="95400" anchor="t" anchorCtr="0">
            <a:noAutofit/>
          </a:bodyPr>
          <a:lstStyle>
            <a:lvl1pPr marL="457200" lvl="0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1pPr>
            <a:lvl2pPr marL="914400" lvl="1" indent="-3238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sz="1500">
                <a:solidFill>
                  <a:schemeClr val="dk2"/>
                </a:solidFill>
              </a:defRPr>
            </a:lvl2pPr>
            <a:lvl3pPr marL="1371600" lvl="2" indent="-3238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3pPr>
            <a:lvl4pPr marL="1828800" lvl="3" indent="-3238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sz="1500">
                <a:solidFill>
                  <a:schemeClr val="dk2"/>
                </a:solidFill>
              </a:defRPr>
            </a:lvl4pPr>
            <a:lvl5pPr marL="2286000" lvl="4" indent="-3238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sz="1500">
                <a:solidFill>
                  <a:schemeClr val="dk2"/>
                </a:solidFill>
              </a:defRPr>
            </a:lvl5pPr>
            <a:lvl6pPr marL="2743200" lvl="5" indent="-3238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6pPr>
            <a:lvl7pPr marL="3200400" lvl="6" indent="-3238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  <a:defRPr sz="1500">
                <a:solidFill>
                  <a:schemeClr val="dk2"/>
                </a:solidFill>
              </a:defRPr>
            </a:lvl7pPr>
            <a:lvl8pPr marL="3657600" lvl="7" indent="-3238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  <a:defRPr sz="1500">
                <a:solidFill>
                  <a:schemeClr val="dk2"/>
                </a:solidFill>
              </a:defRPr>
            </a:lvl8pPr>
            <a:lvl9pPr marL="4114800" lvl="8" indent="-3238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500"/>
              <a:buChar char="■"/>
              <a:defRPr sz="1500"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400" tIns="95400" rIns="95400" bIns="95400" anchor="ctr" anchorCtr="0">
            <a:noAutofit/>
          </a:bodyPr>
          <a:lstStyle>
            <a:lvl1pPr lvl="0" algn="r">
              <a:buNone/>
              <a:defRPr sz="1100">
                <a:solidFill>
                  <a:schemeClr val="dk2"/>
                </a:solidFill>
              </a:defRPr>
            </a:lvl1pPr>
            <a:lvl2pPr lvl="1" algn="r">
              <a:buNone/>
              <a:defRPr sz="1100">
                <a:solidFill>
                  <a:schemeClr val="dk2"/>
                </a:solidFill>
              </a:defRPr>
            </a:lvl2pPr>
            <a:lvl3pPr lvl="2" algn="r">
              <a:buNone/>
              <a:defRPr sz="1100">
                <a:solidFill>
                  <a:schemeClr val="dk2"/>
                </a:solidFill>
              </a:defRPr>
            </a:lvl3pPr>
            <a:lvl4pPr lvl="3" algn="r">
              <a:buNone/>
              <a:defRPr sz="1100">
                <a:solidFill>
                  <a:schemeClr val="dk2"/>
                </a:solidFill>
              </a:defRPr>
            </a:lvl4pPr>
            <a:lvl5pPr lvl="4" algn="r">
              <a:buNone/>
              <a:defRPr sz="1100">
                <a:solidFill>
                  <a:schemeClr val="dk2"/>
                </a:solidFill>
              </a:defRPr>
            </a:lvl5pPr>
            <a:lvl6pPr lvl="5" algn="r">
              <a:buNone/>
              <a:defRPr sz="1100">
                <a:solidFill>
                  <a:schemeClr val="dk2"/>
                </a:solidFill>
              </a:defRPr>
            </a:lvl6pPr>
            <a:lvl7pPr lvl="6" algn="r">
              <a:buNone/>
              <a:defRPr sz="1100">
                <a:solidFill>
                  <a:schemeClr val="dk2"/>
                </a:solidFill>
              </a:defRPr>
            </a:lvl7pPr>
            <a:lvl8pPr lvl="7" algn="r">
              <a:buNone/>
              <a:defRPr sz="1100">
                <a:solidFill>
                  <a:schemeClr val="dk2"/>
                </a:solidFill>
              </a:defRPr>
            </a:lvl8pPr>
            <a:lvl9pPr lvl="8" algn="r">
              <a:buNone/>
              <a:defRPr sz="11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/>
        </p:nvSpPr>
        <p:spPr>
          <a:xfrm>
            <a:off x="0" y="1439390"/>
            <a:ext cx="9144000" cy="16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5175" tIns="75175" rIns="75175" bIns="75175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altLang="ko" sz="3200" b="1" dirty="0">
                <a:solidFill>
                  <a:schemeClr val="dk1"/>
                </a:solidFill>
                <a:latin typeface="+mn-ea"/>
                <a:ea typeface="+mn-ea"/>
                <a:cs typeface="Gothic A1"/>
                <a:sym typeface="Gothic A1"/>
              </a:rPr>
              <a:t>[</a:t>
            </a:r>
            <a:r>
              <a:rPr lang="ko-KR" altLang="en-US" sz="3200" b="1" dirty="0" err="1">
                <a:solidFill>
                  <a:schemeClr val="dk1"/>
                </a:solidFill>
                <a:latin typeface="+mn-ea"/>
                <a:ea typeface="+mn-ea"/>
                <a:cs typeface="Gothic A1"/>
                <a:sym typeface="Gothic A1"/>
              </a:rPr>
              <a:t>강원후평</a:t>
            </a:r>
            <a:r>
              <a:rPr lang="en-US" altLang="ko-KR" sz="3200" b="1" dirty="0">
                <a:solidFill>
                  <a:schemeClr val="dk1"/>
                </a:solidFill>
                <a:latin typeface="+mn-ea"/>
                <a:ea typeface="+mn-ea"/>
                <a:cs typeface="Gothic A1"/>
                <a:sym typeface="Gothic A1"/>
              </a:rPr>
              <a:t>AX</a:t>
            </a:r>
            <a:r>
              <a:rPr lang="en-US" altLang="ko" sz="3200" b="1" dirty="0">
                <a:solidFill>
                  <a:schemeClr val="dk1"/>
                </a:solidFill>
                <a:latin typeface="+mn-ea"/>
                <a:ea typeface="+mn-ea"/>
                <a:cs typeface="Gothic A1"/>
                <a:sym typeface="Gothic A1"/>
              </a:rPr>
              <a:t>]</a:t>
            </a:r>
          </a:p>
          <a:p>
            <a:pPr algn="ctr">
              <a:lnSpc>
                <a:spcPct val="150000"/>
              </a:lnSpc>
            </a:pPr>
            <a:r>
              <a:rPr lang="ko-KR" altLang="en-US" sz="3200" b="1" dirty="0" err="1">
                <a:solidFill>
                  <a:schemeClr val="dk1"/>
                </a:solidFill>
                <a:latin typeface="+mn-ea"/>
                <a:ea typeface="+mn-ea"/>
                <a:cs typeface="Gothic A1"/>
                <a:sym typeface="Gothic A1"/>
              </a:rPr>
              <a:t>춘천바이오산업진흥원</a:t>
            </a:r>
            <a:br>
              <a:rPr lang="en-US" altLang="ko-KR" sz="3200" b="1" dirty="0">
                <a:solidFill>
                  <a:schemeClr val="dk1"/>
                </a:solidFill>
                <a:latin typeface="+mn-ea"/>
                <a:ea typeface="+mn-ea"/>
                <a:cs typeface="Gothic A1"/>
                <a:sym typeface="Gothic A1"/>
              </a:rPr>
            </a:br>
            <a:r>
              <a:rPr lang="en-US" altLang="ko-KR" sz="3200" b="1" dirty="0">
                <a:solidFill>
                  <a:schemeClr val="dk1"/>
                </a:solidFill>
                <a:latin typeface="+mn-ea"/>
                <a:ea typeface="+mn-ea"/>
                <a:cs typeface="Gothic A1"/>
                <a:sym typeface="Gothic A1"/>
              </a:rPr>
              <a:t>PoC</a:t>
            </a:r>
            <a:r>
              <a:rPr lang="ko-KR" altLang="en-US" sz="3200" b="1" dirty="0">
                <a:solidFill>
                  <a:schemeClr val="dk1"/>
                </a:solidFill>
                <a:latin typeface="+mn-ea"/>
                <a:ea typeface="+mn-ea"/>
                <a:cs typeface="Gothic A1"/>
                <a:sym typeface="Gothic A1"/>
              </a:rPr>
              <a:t>를 위한 화면안내</a:t>
            </a:r>
            <a:endParaRPr sz="2800" b="1" dirty="0">
              <a:solidFill>
                <a:srgbClr val="666666"/>
              </a:solidFill>
              <a:latin typeface="+mn-ea"/>
              <a:ea typeface="+mn-ea"/>
              <a:cs typeface="Gothic A1"/>
              <a:sym typeface="Gothic A1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>
          <a:extLst>
            <a:ext uri="{FF2B5EF4-FFF2-40B4-BE49-F238E27FC236}">
              <a16:creationId xmlns:a16="http://schemas.microsoft.com/office/drawing/2014/main" id="{5C04CB27-B4E0-AE1B-718F-CB4D9F3DD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1">
            <a:extLst>
              <a:ext uri="{FF2B5EF4-FFF2-40B4-BE49-F238E27FC236}">
                <a16:creationId xmlns:a16="http://schemas.microsoft.com/office/drawing/2014/main" id="{7550A809-F346-5731-D2D6-04B9B7C2C2E7}"/>
              </a:ext>
            </a:extLst>
          </p:cNvPr>
          <p:cNvSpPr txBox="1"/>
          <p:nvPr/>
        </p:nvSpPr>
        <p:spPr>
          <a:xfrm>
            <a:off x="797425" y="193050"/>
            <a:ext cx="1551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r>
              <a:rPr lang="ko-KR" altLang="en-US" sz="700" dirty="0" err="1">
                <a:solidFill>
                  <a:schemeClr val="dk1"/>
                </a:solidFill>
              </a:rPr>
              <a:t>메인화면</a:t>
            </a:r>
            <a:endParaRPr sz="700" dirty="0">
              <a:solidFill>
                <a:schemeClr val="dk1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397" name="Google Shape;397;p31">
            <a:extLst>
              <a:ext uri="{FF2B5EF4-FFF2-40B4-BE49-F238E27FC236}">
                <a16:creationId xmlns:a16="http://schemas.microsoft.com/office/drawing/2014/main" id="{F8EDDE9E-4AFB-CD5B-D3BB-65A2922B5F69}"/>
              </a:ext>
            </a:extLst>
          </p:cNvPr>
          <p:cNvSpPr txBox="1"/>
          <p:nvPr/>
        </p:nvSpPr>
        <p:spPr>
          <a:xfrm>
            <a:off x="5848375" y="193050"/>
            <a:ext cx="1373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pPr>
              <a:buSzPts val="800"/>
            </a:pPr>
            <a:r>
              <a:rPr lang="en-US" altLang="ko-KR" sz="700" dirty="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-</a:t>
            </a:r>
            <a:endParaRPr sz="700" dirty="0"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400" name="Google Shape;400;p31">
            <a:extLst>
              <a:ext uri="{FF2B5EF4-FFF2-40B4-BE49-F238E27FC236}">
                <a16:creationId xmlns:a16="http://schemas.microsoft.com/office/drawing/2014/main" id="{89814CCD-A584-0DC2-4257-515CAA4E76A5}"/>
              </a:ext>
            </a:extLst>
          </p:cNvPr>
          <p:cNvSpPr txBox="1"/>
          <p:nvPr/>
        </p:nvSpPr>
        <p:spPr>
          <a:xfrm>
            <a:off x="7871326" y="193050"/>
            <a:ext cx="1134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altLang="ko" sz="700" dirty="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2025.0</a:t>
            </a:r>
            <a:r>
              <a:rPr lang="en-US" altLang="ko-KR" sz="700" dirty="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9.24</a:t>
            </a:r>
            <a:endParaRPr sz="700" dirty="0">
              <a:solidFill>
                <a:schemeClr val="dk1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4A08A78-97D6-2062-FF27-BD639E35D356}"/>
              </a:ext>
            </a:extLst>
          </p:cNvPr>
          <p:cNvSpPr/>
          <p:nvPr/>
        </p:nvSpPr>
        <p:spPr>
          <a:xfrm>
            <a:off x="166775" y="533499"/>
            <a:ext cx="6517939" cy="549229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9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7F4FF39C-D5E4-1939-62E4-9C9A50A3F094}"/>
              </a:ext>
            </a:extLst>
          </p:cNvPr>
          <p:cNvSpPr/>
          <p:nvPr/>
        </p:nvSpPr>
        <p:spPr>
          <a:xfrm>
            <a:off x="1382658" y="522302"/>
            <a:ext cx="657640" cy="560426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1depth 1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B2D2CA3-FE7F-854C-8BF5-10DB337FCD66}"/>
              </a:ext>
            </a:extLst>
          </p:cNvPr>
          <p:cNvSpPr/>
          <p:nvPr/>
        </p:nvSpPr>
        <p:spPr>
          <a:xfrm>
            <a:off x="2041763" y="522302"/>
            <a:ext cx="657640" cy="560426"/>
          </a:xfrm>
          <a:prstGeom prst="roundRect">
            <a:avLst>
              <a:gd name="adj" fmla="val 0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8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</a:rPr>
              <a:t>1depth 2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08F2162E-0802-CFFB-D7A7-6F100DD2EC24}"/>
              </a:ext>
            </a:extLst>
          </p:cNvPr>
          <p:cNvSpPr/>
          <p:nvPr/>
        </p:nvSpPr>
        <p:spPr>
          <a:xfrm>
            <a:off x="2700868" y="522302"/>
            <a:ext cx="657640" cy="560426"/>
          </a:xfrm>
          <a:prstGeom prst="roundRect">
            <a:avLst>
              <a:gd name="adj" fmla="val 0"/>
            </a:avLst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altLang="ko-KR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endParaRPr lang="en-US" altLang="ko-KR" sz="800" b="1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  <a:latin typeface="맑은 고딕" panose="020B0503020000020004" pitchFamily="50" charset="-127"/>
              </a:rPr>
              <a:t>1depth 3</a:t>
            </a:r>
            <a:endParaRPr lang="ko-KR" altLang="en-US" sz="800" dirty="0">
              <a:solidFill>
                <a:schemeClr val="tx1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753DBF6-5363-B654-4AC7-FF2751032DAE}"/>
              </a:ext>
            </a:extLst>
          </p:cNvPr>
          <p:cNvSpPr/>
          <p:nvPr/>
        </p:nvSpPr>
        <p:spPr>
          <a:xfrm>
            <a:off x="279320" y="664868"/>
            <a:ext cx="732154" cy="26047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Logo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7416D2C-E167-6008-7014-170DBBF3062A}"/>
              </a:ext>
            </a:extLst>
          </p:cNvPr>
          <p:cNvSpPr/>
          <p:nvPr/>
        </p:nvSpPr>
        <p:spPr>
          <a:xfrm>
            <a:off x="1505958" y="626242"/>
            <a:ext cx="411040" cy="1888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ICO</a:t>
            </a:r>
            <a:endParaRPr lang="ko-KR" altLang="en-US" sz="70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5E879E4-41E1-021B-92E2-1933D45BB689}"/>
              </a:ext>
            </a:extLst>
          </p:cNvPr>
          <p:cNvSpPr/>
          <p:nvPr/>
        </p:nvSpPr>
        <p:spPr>
          <a:xfrm>
            <a:off x="2165063" y="626242"/>
            <a:ext cx="411040" cy="1888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ICO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0C1CAA8-54BB-DC10-FBEC-A7B1FB8A641F}"/>
              </a:ext>
            </a:extLst>
          </p:cNvPr>
          <p:cNvSpPr/>
          <p:nvPr/>
        </p:nvSpPr>
        <p:spPr>
          <a:xfrm>
            <a:off x="2824168" y="626242"/>
            <a:ext cx="411040" cy="18887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ICO</a:t>
            </a:r>
            <a:endParaRPr lang="ko-KR" altLang="en-US" sz="70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E69BF333-4C06-A1BA-CC2C-E46B13ECC810}"/>
              </a:ext>
            </a:extLst>
          </p:cNvPr>
          <p:cNvSpPr/>
          <p:nvPr/>
        </p:nvSpPr>
        <p:spPr>
          <a:xfrm>
            <a:off x="166775" y="1087635"/>
            <a:ext cx="6517939" cy="4246074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700" i="1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650996E-D9B8-573D-329A-40B6809C7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634136"/>
              </p:ext>
            </p:extLst>
          </p:nvPr>
        </p:nvGraphicFramePr>
        <p:xfrm>
          <a:off x="6777710" y="510828"/>
          <a:ext cx="2228517" cy="1591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55">
                  <a:extLst>
                    <a:ext uri="{9D8B030D-6E8A-4147-A177-3AD203B41FA5}">
                      <a16:colId xmlns:a16="http://schemas.microsoft.com/office/drawing/2014/main" val="1649533771"/>
                    </a:ext>
                  </a:extLst>
                </a:gridCol>
                <a:gridCol w="1935362">
                  <a:extLst>
                    <a:ext uri="{9D8B030D-6E8A-4147-A177-3AD203B41FA5}">
                      <a16:colId xmlns:a16="http://schemas.microsoft.com/office/drawing/2014/main" val="1453130143"/>
                    </a:ext>
                  </a:extLst>
                </a:gridCol>
              </a:tblGrid>
              <a:tr h="181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u="none" strike="noStrike" cap="non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화면 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977616065"/>
                  </a:ext>
                </a:extLst>
              </a:tr>
              <a:tr h="181728">
                <a:tc gridSpan="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Arial"/>
                        </a:rPr>
                        <a:t>공통 화면 설명</a:t>
                      </a: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687718"/>
                  </a:ext>
                </a:extLst>
              </a:tr>
              <a:tr h="181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7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41008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 Medium"/>
                          <a:sym typeface="Gothic A1 Medium"/>
                        </a:rPr>
                        <a:t>1</a:t>
                      </a:r>
                      <a:endParaRPr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600" b="1" i="0" u="none" strike="noStrike" cap="none" dirty="0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각 시설 대분류</a:t>
                      </a:r>
                    </a:p>
                    <a:p>
                      <a:pPr marL="133200" lvl="0" indent="-84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600"/>
                        <a:buFont typeface="Gothic A1"/>
                        <a:buChar char="-"/>
                      </a:pP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마우스 </a:t>
                      </a:r>
                      <a:r>
                        <a:rPr kumimoji="1" lang="ko-KR" altLang="en-US" sz="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호버</a:t>
                      </a: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 시 소분류 장비 노출</a:t>
                      </a: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"/>
                        <a:sym typeface="Gothic A1"/>
                      </a:endParaRP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43934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 Medium"/>
                          <a:sym typeface="Gothic A1 Medium"/>
                        </a:rPr>
                        <a:t>2</a:t>
                      </a:r>
                      <a:endParaRPr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600" b="1" i="0" u="none" strike="noStrike" cap="none" dirty="0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각 시설 소분류</a:t>
                      </a:r>
                    </a:p>
                    <a:p>
                      <a:pPr marL="133200" lvl="0" indent="-84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600"/>
                        <a:buFont typeface="Gothic A1"/>
                        <a:buChar char="-"/>
                      </a:pP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소분류 </a:t>
                      </a:r>
                      <a:r>
                        <a:rPr kumimoji="1" lang="ko-KR" altLang="en-US" sz="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장비명</a:t>
                      </a: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 클릭 시 해당 장비 </a:t>
                      </a:r>
                      <a:r>
                        <a:rPr kumimoji="1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DT </a:t>
                      </a: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로 이동</a:t>
                      </a: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Gothic A1"/>
                        <a:sym typeface="Gothic A1"/>
                      </a:endParaRP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94263"/>
                  </a:ext>
                </a:extLst>
              </a:tr>
              <a:tr h="181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FFFF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필요사항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421113"/>
                  </a:ext>
                </a:extLst>
              </a:tr>
              <a:tr h="23872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"/>
                        <a:sym typeface="Gothic A1"/>
                      </a:endParaRP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94289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4A7260A-3F98-AE83-69A5-B1834FB971BB}"/>
              </a:ext>
            </a:extLst>
          </p:cNvPr>
          <p:cNvSpPr txBox="1"/>
          <p:nvPr/>
        </p:nvSpPr>
        <p:spPr>
          <a:xfrm>
            <a:off x="348620" y="1574682"/>
            <a:ext cx="338335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defTabSz="685772" latinLnBrk="1">
              <a:buClrTx/>
              <a:defRPr/>
            </a:pPr>
            <a:r>
              <a:rPr lang="ko-KR" altLang="en-US" sz="1800" b="1" kern="1200" dirty="0">
                <a:solidFill>
                  <a:prstClr val="black"/>
                </a:solidFill>
                <a:latin typeface="+mn-ea"/>
                <a:ea typeface="+mn-ea"/>
              </a:rPr>
              <a:t>춘천 바이오 산업 진흥원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BECEFB58-592B-F6AA-DDE3-4C102F0A4101}"/>
              </a:ext>
            </a:extLst>
          </p:cNvPr>
          <p:cNvGrpSpPr/>
          <p:nvPr/>
        </p:nvGrpSpPr>
        <p:grpSpPr>
          <a:xfrm>
            <a:off x="348620" y="3249508"/>
            <a:ext cx="6188206" cy="1988532"/>
            <a:chOff x="548335" y="3226837"/>
            <a:chExt cx="5930885" cy="1988532"/>
          </a:xfrm>
        </p:grpSpPr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44C689CE-DD38-69B0-349C-FAEA9B41D30B}"/>
                </a:ext>
              </a:extLst>
            </p:cNvPr>
            <p:cNvSpPr/>
            <p:nvPr/>
          </p:nvSpPr>
          <p:spPr>
            <a:xfrm>
              <a:off x="548335" y="3226837"/>
              <a:ext cx="1880241" cy="1988532"/>
            </a:xfrm>
            <a:prstGeom prst="roundRect">
              <a:avLst>
                <a:gd name="adj" fmla="val 7853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Pilot Plant</a:t>
              </a:r>
              <a:endParaRPr lang="ko-KR" altLang="en-US" dirty="0"/>
            </a:p>
          </p:txBody>
        </p:sp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1C25D8A7-8210-4A57-690D-96771E621B57}"/>
                </a:ext>
              </a:extLst>
            </p:cNvPr>
            <p:cNvSpPr/>
            <p:nvPr/>
          </p:nvSpPr>
          <p:spPr>
            <a:xfrm>
              <a:off x="4598979" y="3226837"/>
              <a:ext cx="1880241" cy="1988532"/>
            </a:xfrm>
            <a:prstGeom prst="roundRect">
              <a:avLst>
                <a:gd name="adj" fmla="val 7853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연구장비</a:t>
              </a:r>
            </a:p>
          </p:txBody>
        </p: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FA8A7F6A-91A3-0706-5D14-431BA960AE7D}"/>
                </a:ext>
              </a:extLst>
            </p:cNvPr>
            <p:cNvSpPr/>
            <p:nvPr/>
          </p:nvSpPr>
          <p:spPr>
            <a:xfrm>
              <a:off x="2573657" y="3226837"/>
              <a:ext cx="1880241" cy="1988532"/>
            </a:xfrm>
            <a:prstGeom prst="roundRect">
              <a:avLst>
                <a:gd name="adj" fmla="val 7853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GMP</a:t>
              </a:r>
              <a:endParaRPr lang="ko-KR" altLang="en-US" dirty="0"/>
            </a:p>
          </p:txBody>
        </p:sp>
      </p:grp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EB1FC1B-4533-E0ED-598B-EAF89153401B}"/>
              </a:ext>
            </a:extLst>
          </p:cNvPr>
          <p:cNvSpPr/>
          <p:nvPr/>
        </p:nvSpPr>
        <p:spPr>
          <a:xfrm>
            <a:off x="4572000" y="1256689"/>
            <a:ext cx="2002860" cy="1897149"/>
          </a:xfrm>
          <a:prstGeom prst="roundRect">
            <a:avLst>
              <a:gd name="adj" fmla="val 785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0" name="사각형: 둥근 모서리 409">
            <a:extLst>
              <a:ext uri="{FF2B5EF4-FFF2-40B4-BE49-F238E27FC236}">
                <a16:creationId xmlns:a16="http://schemas.microsoft.com/office/drawing/2014/main" id="{5CD96D9D-D8D6-B459-D255-7CCB59282E45}"/>
              </a:ext>
            </a:extLst>
          </p:cNvPr>
          <p:cNvSpPr/>
          <p:nvPr/>
        </p:nvSpPr>
        <p:spPr>
          <a:xfrm>
            <a:off x="4740405" y="1649654"/>
            <a:ext cx="1666050" cy="199975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r>
              <a:rPr lang="ko-KR" altLang="en-US" sz="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최근 로그인 일시         </a:t>
            </a:r>
            <a:r>
              <a:rPr lang="en-US" altLang="ko-KR" sz="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2025/09/25 16:21</a:t>
            </a:r>
            <a:endParaRPr lang="ko-KR" altLang="en-US" sz="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C957888-D63E-5F56-F68A-DF795E1F5538}"/>
              </a:ext>
            </a:extLst>
          </p:cNvPr>
          <p:cNvSpPr/>
          <p:nvPr/>
        </p:nvSpPr>
        <p:spPr>
          <a:xfrm>
            <a:off x="4740405" y="1374707"/>
            <a:ext cx="1666050" cy="199975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안녕하세요</a:t>
            </a:r>
            <a:r>
              <a:rPr lang="en-US" altLang="ko-KR" sz="7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7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홍길동님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4F3A6179-575F-48A4-CAB4-5A1EF3F1B3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868830"/>
              </p:ext>
            </p:extLst>
          </p:nvPr>
        </p:nvGraphicFramePr>
        <p:xfrm>
          <a:off x="4747420" y="2237836"/>
          <a:ext cx="1652020" cy="731520"/>
        </p:xfrm>
        <a:graphic>
          <a:graphicData uri="http://schemas.openxmlformats.org/drawingml/2006/table">
            <a:tbl>
              <a:tblPr firstRow="1" bandRow="1">
                <a:tableStyleId>{0AC2C297-DBA1-4DD1-99DE-D7A8A66B7A42}</a:tableStyleId>
              </a:tblPr>
              <a:tblGrid>
                <a:gridCol w="684873">
                  <a:extLst>
                    <a:ext uri="{9D8B030D-6E8A-4147-A177-3AD203B41FA5}">
                      <a16:colId xmlns:a16="http://schemas.microsoft.com/office/drawing/2014/main" val="4107782807"/>
                    </a:ext>
                  </a:extLst>
                </a:gridCol>
                <a:gridCol w="427157">
                  <a:extLst>
                    <a:ext uri="{9D8B030D-6E8A-4147-A177-3AD203B41FA5}">
                      <a16:colId xmlns:a16="http://schemas.microsoft.com/office/drawing/2014/main" val="2154925479"/>
                    </a:ext>
                  </a:extLst>
                </a:gridCol>
                <a:gridCol w="539990">
                  <a:extLst>
                    <a:ext uri="{9D8B030D-6E8A-4147-A177-3AD203B41FA5}">
                      <a16:colId xmlns:a16="http://schemas.microsoft.com/office/drawing/2014/main" val="1268145734"/>
                    </a:ext>
                  </a:extLst>
                </a:gridCol>
              </a:tblGrid>
              <a:tr h="1801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i="0" u="none" strike="noStrike" cap="none" dirty="0" err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장비명</a:t>
                      </a:r>
                      <a:endParaRPr lang="ko-KR" altLang="en-US" sz="600" b="0" i="0" u="none" strike="noStrike" cap="none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i="0" u="none" strike="noStrike" cap="none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위치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i="0" u="none" strike="noStrike" cap="none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상태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804861"/>
                  </a:ext>
                </a:extLst>
              </a:tr>
              <a:tr h="1801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i="0" u="none" strike="noStrike" cap="none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7KL </a:t>
                      </a:r>
                      <a:r>
                        <a:rPr lang="ko-KR" altLang="en-US" sz="600" b="0" i="0" u="none" strike="noStrike" cap="none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발효시스템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i="0" u="none" strike="noStrike" cap="none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P.P</a:t>
                      </a:r>
                      <a:endParaRPr lang="ko-KR" altLang="en-US" sz="600" b="0" i="0" u="none" strike="noStrike" cap="none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i="0" u="none" strike="noStrike" cap="none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사용중</a:t>
                      </a:r>
                      <a:endParaRPr lang="ko-KR" altLang="en-US" sz="600" b="0" i="0" u="none" strike="noStrike" cap="none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978321"/>
                  </a:ext>
                </a:extLst>
              </a:tr>
              <a:tr h="1801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i="0" u="none" strike="noStrike" cap="none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  <a:sym typeface="Arial"/>
                        </a:rPr>
                        <a:t>5KL </a:t>
                      </a:r>
                      <a:r>
                        <a:rPr lang="ko-KR" altLang="en-US" sz="600" b="0" i="0" u="none" strike="noStrike" cap="none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  <a:sym typeface="Arial"/>
                        </a:rPr>
                        <a:t>발효시스템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i="0" u="none" strike="noStrike" cap="none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P.P</a:t>
                      </a:r>
                      <a:endParaRPr lang="ko-KR" altLang="en-US" sz="600" b="0" i="0" u="none" strike="noStrike" cap="none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i="0" u="none" strike="noStrike" cap="none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미사용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581045"/>
                  </a:ext>
                </a:extLst>
              </a:tr>
              <a:tr h="1801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i="0" u="none" strike="noStrike" cap="none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  <a:sym typeface="Arial"/>
                        </a:rPr>
                        <a:t>스틱포장기</a:t>
                      </a:r>
                      <a:endParaRPr lang="ko-KR" altLang="en-US" sz="600" b="0" i="0" u="none" strike="noStrike" cap="none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i="0" u="none" strike="noStrike" cap="none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GMP</a:t>
                      </a:r>
                      <a:endParaRPr lang="ko-KR" altLang="en-US" sz="600" b="0" i="0" u="none" strike="noStrike" cap="none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i="0" u="none" strike="noStrike" cap="none" dirty="0" err="1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수리중</a:t>
                      </a:r>
                      <a:endParaRPr lang="ko-KR" altLang="en-US" sz="600" b="0" i="0" u="none" strike="noStrike" cap="none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56783"/>
                  </a:ext>
                </a:extLst>
              </a:tr>
            </a:tbl>
          </a:graphicData>
        </a:graphic>
      </p:graphicFrame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C9C3275-98DD-AFF1-BC54-11C935AA674A}"/>
              </a:ext>
            </a:extLst>
          </p:cNvPr>
          <p:cNvSpPr/>
          <p:nvPr/>
        </p:nvSpPr>
        <p:spPr>
          <a:xfrm>
            <a:off x="4740405" y="2013938"/>
            <a:ext cx="1666050" cy="199975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r>
              <a:rPr lang="ko-KR" altLang="en-US" sz="7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즐겨찾기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7F551D78-E0BA-231E-B1E3-AED3E301BC17}"/>
              </a:ext>
            </a:extLst>
          </p:cNvPr>
          <p:cNvGrpSpPr/>
          <p:nvPr/>
        </p:nvGrpSpPr>
        <p:grpSpPr>
          <a:xfrm>
            <a:off x="5731588" y="720291"/>
            <a:ext cx="1196399" cy="285229"/>
            <a:chOff x="211833" y="4967265"/>
            <a:chExt cx="1196399" cy="285229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008275A5-EF30-A867-598F-B8D59C6F137C}"/>
                </a:ext>
              </a:extLst>
            </p:cNvPr>
            <p:cNvSpPr/>
            <p:nvPr/>
          </p:nvSpPr>
          <p:spPr>
            <a:xfrm>
              <a:off x="537129" y="4967265"/>
              <a:ext cx="871103" cy="285229"/>
            </a:xfrm>
            <a:prstGeom prst="round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로그아웃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E4B105E-3CBD-1894-69C8-05C5B95B9ABC}"/>
                </a:ext>
              </a:extLst>
            </p:cNvPr>
            <p:cNvSpPr/>
            <p:nvPr/>
          </p:nvSpPr>
          <p:spPr>
            <a:xfrm>
              <a:off x="211833" y="4983429"/>
              <a:ext cx="350418" cy="25290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ICO</a:t>
              </a:r>
              <a:endParaRPr lang="ko-KR" altLang="en-US" sz="70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F586716D-F7B6-ADF6-9C19-34C6207E3937}"/>
              </a:ext>
            </a:extLst>
          </p:cNvPr>
          <p:cNvGrpSpPr/>
          <p:nvPr/>
        </p:nvGrpSpPr>
        <p:grpSpPr>
          <a:xfrm>
            <a:off x="4731269" y="534809"/>
            <a:ext cx="779410" cy="199975"/>
            <a:chOff x="211833" y="4370591"/>
            <a:chExt cx="779410" cy="199975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B7F24224-760D-F5A0-F44A-481EE3E06583}"/>
                </a:ext>
              </a:extLst>
            </p:cNvPr>
            <p:cNvSpPr/>
            <p:nvPr/>
          </p:nvSpPr>
          <p:spPr>
            <a:xfrm>
              <a:off x="537131" y="4370591"/>
              <a:ext cx="454112" cy="199975"/>
            </a:xfrm>
            <a:prstGeom prst="round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r>
                <a:rPr lang="ko-KR" altLang="en-US" sz="6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맑음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26304C7A-0D6D-79B2-FFF5-F0671D8287C2}"/>
                </a:ext>
              </a:extLst>
            </p:cNvPr>
            <p:cNvSpPr/>
            <p:nvPr/>
          </p:nvSpPr>
          <p:spPr>
            <a:xfrm>
              <a:off x="211833" y="4386756"/>
              <a:ext cx="350418" cy="1773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1">
                      <a:lumMod val="50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ICO</a:t>
              </a:r>
              <a:endParaRPr lang="ko-KR" altLang="en-US" sz="60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65D29E5-7257-030D-572C-A27C6A7103B9}"/>
              </a:ext>
            </a:extLst>
          </p:cNvPr>
          <p:cNvSpPr/>
          <p:nvPr/>
        </p:nvSpPr>
        <p:spPr>
          <a:xfrm>
            <a:off x="5387077" y="534809"/>
            <a:ext cx="1267330" cy="199975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r"/>
            <a:r>
              <a:rPr lang="en-US" altLang="ko-KR" sz="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2025-09-25   16:21:31</a:t>
            </a:r>
            <a:endParaRPr lang="ko-KR" altLang="en-US" sz="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284F0C6-DE06-7480-EF86-9EA145F7A98C}"/>
              </a:ext>
            </a:extLst>
          </p:cNvPr>
          <p:cNvSpPr/>
          <p:nvPr/>
        </p:nvSpPr>
        <p:spPr>
          <a:xfrm>
            <a:off x="473582" y="4854660"/>
            <a:ext cx="1711894" cy="195472"/>
          </a:xfrm>
          <a:prstGeom prst="roundRect">
            <a:avLst/>
          </a:prstGeom>
          <a:solidFill>
            <a:srgbClr val="FFC0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en-US" altLang="ko-KR" sz="600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7KL </a:t>
            </a:r>
            <a:r>
              <a:rPr lang="ko-KR" altLang="en-US" sz="600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발효시스템 </a:t>
            </a:r>
          </a:p>
        </p:txBody>
      </p:sp>
      <p:sp>
        <p:nvSpPr>
          <p:cNvPr id="7" name="Google Shape;208;p21">
            <a:extLst>
              <a:ext uri="{FF2B5EF4-FFF2-40B4-BE49-F238E27FC236}">
                <a16:creationId xmlns:a16="http://schemas.microsoft.com/office/drawing/2014/main" id="{16240D76-FC5A-B654-5A50-9ECC2B6E1680}"/>
              </a:ext>
            </a:extLst>
          </p:cNvPr>
          <p:cNvSpPr/>
          <p:nvPr/>
        </p:nvSpPr>
        <p:spPr>
          <a:xfrm>
            <a:off x="386657" y="4758991"/>
            <a:ext cx="173849" cy="173849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28575" dir="264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600" b="1" dirty="0">
                <a:latin typeface="Gothic A1"/>
                <a:ea typeface="Gothic A1"/>
                <a:cs typeface="Gothic A1"/>
                <a:sym typeface="Gothic A1"/>
              </a:rPr>
              <a:t>1-1</a:t>
            </a:r>
            <a:endParaRPr sz="600" b="1" dirty="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8" name="Google Shape;208;p21">
            <a:extLst>
              <a:ext uri="{FF2B5EF4-FFF2-40B4-BE49-F238E27FC236}">
                <a16:creationId xmlns:a16="http://schemas.microsoft.com/office/drawing/2014/main" id="{B91CE9F8-6324-7C36-F477-714D0786CFC3}"/>
              </a:ext>
            </a:extLst>
          </p:cNvPr>
          <p:cNvSpPr/>
          <p:nvPr/>
        </p:nvSpPr>
        <p:spPr>
          <a:xfrm>
            <a:off x="279320" y="3190085"/>
            <a:ext cx="173849" cy="173849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28575" dir="264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altLang="ko" sz="600" b="1" dirty="0">
                <a:latin typeface="Gothic A1"/>
                <a:ea typeface="Gothic A1"/>
                <a:cs typeface="Gothic A1"/>
                <a:sym typeface="Gothic A1"/>
              </a:rPr>
              <a:t>1</a:t>
            </a:r>
            <a:endParaRPr sz="600" b="1" dirty="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D99C0B-B02D-8BB7-5D53-EC07157D81A6}"/>
              </a:ext>
            </a:extLst>
          </p:cNvPr>
          <p:cNvSpPr/>
          <p:nvPr/>
        </p:nvSpPr>
        <p:spPr>
          <a:xfrm>
            <a:off x="7081712" y="3219376"/>
            <a:ext cx="1677660" cy="1088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kern="1200" dirty="0">
                <a:solidFill>
                  <a:schemeClr val="tx1"/>
                </a:solidFill>
                <a:latin typeface="+mn-ea"/>
              </a:rPr>
              <a:t>처음 접속한 메인 화면입니다</a:t>
            </a:r>
            <a:r>
              <a:rPr lang="en-US" altLang="ko-KR" sz="800" b="1" kern="1200" dirty="0">
                <a:solidFill>
                  <a:schemeClr val="tx1"/>
                </a:solidFill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5526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>
          <a:extLst>
            <a:ext uri="{FF2B5EF4-FFF2-40B4-BE49-F238E27FC236}">
              <a16:creationId xmlns:a16="http://schemas.microsoft.com/office/drawing/2014/main" id="{AD93A7EF-F2D4-163E-D08C-74625FDEB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1">
            <a:extLst>
              <a:ext uri="{FF2B5EF4-FFF2-40B4-BE49-F238E27FC236}">
                <a16:creationId xmlns:a16="http://schemas.microsoft.com/office/drawing/2014/main" id="{C41E4EDD-A2AB-D4E5-A74A-12E320A731C2}"/>
              </a:ext>
            </a:extLst>
          </p:cNvPr>
          <p:cNvSpPr txBox="1"/>
          <p:nvPr/>
        </p:nvSpPr>
        <p:spPr>
          <a:xfrm>
            <a:off x="797425" y="193050"/>
            <a:ext cx="1551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r>
              <a:rPr lang="ko-KR" altLang="en-US" sz="700" dirty="0">
                <a:solidFill>
                  <a:schemeClr val="dk1"/>
                </a:solidFill>
              </a:rPr>
              <a:t>시뮬레이션 결과</a:t>
            </a:r>
            <a:endParaRPr sz="700" dirty="0">
              <a:solidFill>
                <a:schemeClr val="dk1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397" name="Google Shape;397;p31">
            <a:extLst>
              <a:ext uri="{FF2B5EF4-FFF2-40B4-BE49-F238E27FC236}">
                <a16:creationId xmlns:a16="http://schemas.microsoft.com/office/drawing/2014/main" id="{2365ABD0-7AF8-F376-66F8-9909357CB2EB}"/>
              </a:ext>
            </a:extLst>
          </p:cNvPr>
          <p:cNvSpPr txBox="1"/>
          <p:nvPr/>
        </p:nvSpPr>
        <p:spPr>
          <a:xfrm>
            <a:off x="5848375" y="193050"/>
            <a:ext cx="1373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pPr>
              <a:buSzPts val="800"/>
            </a:pPr>
            <a:r>
              <a:rPr lang="en-US" altLang="ko-KR" sz="700" dirty="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-</a:t>
            </a:r>
            <a:endParaRPr sz="700" dirty="0"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400" name="Google Shape;400;p31">
            <a:extLst>
              <a:ext uri="{FF2B5EF4-FFF2-40B4-BE49-F238E27FC236}">
                <a16:creationId xmlns:a16="http://schemas.microsoft.com/office/drawing/2014/main" id="{FBF175DE-7EEA-509E-F4BA-3B26172ABBC1}"/>
              </a:ext>
            </a:extLst>
          </p:cNvPr>
          <p:cNvSpPr txBox="1"/>
          <p:nvPr/>
        </p:nvSpPr>
        <p:spPr>
          <a:xfrm>
            <a:off x="7871326" y="193050"/>
            <a:ext cx="1134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altLang="ko" sz="700" dirty="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2025.0</a:t>
            </a:r>
            <a:r>
              <a:rPr lang="en-US" altLang="ko-KR" sz="700" dirty="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9.24</a:t>
            </a:r>
            <a:endParaRPr sz="700" dirty="0">
              <a:solidFill>
                <a:schemeClr val="dk1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0113517-49D7-6340-B9B1-B2802266D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637143"/>
              </p:ext>
            </p:extLst>
          </p:nvPr>
        </p:nvGraphicFramePr>
        <p:xfrm>
          <a:off x="6777710" y="510828"/>
          <a:ext cx="2228517" cy="21951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55">
                  <a:extLst>
                    <a:ext uri="{9D8B030D-6E8A-4147-A177-3AD203B41FA5}">
                      <a16:colId xmlns:a16="http://schemas.microsoft.com/office/drawing/2014/main" val="1649533771"/>
                    </a:ext>
                  </a:extLst>
                </a:gridCol>
                <a:gridCol w="1935362">
                  <a:extLst>
                    <a:ext uri="{9D8B030D-6E8A-4147-A177-3AD203B41FA5}">
                      <a16:colId xmlns:a16="http://schemas.microsoft.com/office/drawing/2014/main" val="1453130143"/>
                    </a:ext>
                  </a:extLst>
                </a:gridCol>
              </a:tblGrid>
              <a:tr h="181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u="none" strike="noStrike" cap="non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화면 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977616065"/>
                  </a:ext>
                </a:extLst>
              </a:tr>
              <a:tr h="181728">
                <a:tc gridSpan="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687718"/>
                  </a:ext>
                </a:extLst>
              </a:tr>
              <a:tr h="181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7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41008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 Medium"/>
                          <a:sym typeface="Gothic A1 Medium"/>
                        </a:rPr>
                        <a:t>1</a:t>
                      </a:r>
                      <a:endParaRPr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600" b="1" i="0" u="none" strike="noStrike" cap="none" dirty="0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주요 요소 별 정보 표기 </a:t>
                      </a:r>
                    </a:p>
                    <a:p>
                      <a:pPr marL="133200" lvl="0" indent="-84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600"/>
                        <a:buFont typeface="Gothic A1"/>
                        <a:buChar char="-"/>
                      </a:pP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클릭 시 화면이 배양온도 관련 정보로 변경</a:t>
                      </a: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"/>
                        <a:sym typeface="Gothic A1"/>
                      </a:endParaRPr>
                    </a:p>
                    <a:p>
                      <a:pPr marL="133200" lvl="0" indent="-84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600"/>
                        <a:buFont typeface="Gothic A1"/>
                        <a:buChar char="-"/>
                      </a:pPr>
                      <a:r>
                        <a:rPr kumimoji="1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1-1)</a:t>
                      </a: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배양 온도 계기판이 보여지게 </a:t>
                      </a:r>
                      <a:r>
                        <a:rPr kumimoji="1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DT </a:t>
                      </a: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화면 전환</a:t>
                      </a: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"/>
                        <a:sym typeface="Gothic A1"/>
                      </a:endParaRPr>
                    </a:p>
                    <a:p>
                      <a:pPr marL="133200" lvl="0" indent="-84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600"/>
                        <a:buFont typeface="Gothic A1"/>
                        <a:buChar char="-"/>
                      </a:pPr>
                      <a:r>
                        <a:rPr kumimoji="1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1-2)</a:t>
                      </a: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클릭 한 배양온도 관련 이상감지 그래프 노출</a:t>
                      </a: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43934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 Medium"/>
                          <a:sym typeface="Gothic A1 Medium"/>
                        </a:rPr>
                        <a:t>2</a:t>
                      </a:r>
                      <a:endParaRPr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600" b="1" i="0" u="none" strike="noStrike" cap="none" dirty="0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즐겨찾기 </a:t>
                      </a:r>
                    </a:p>
                    <a:p>
                      <a:pPr marL="133200" lvl="0" indent="-84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600"/>
                        <a:buFont typeface="Gothic A1"/>
                        <a:buChar char="-"/>
                      </a:pP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클릭 시 </a:t>
                      </a:r>
                      <a:r>
                        <a:rPr kumimoji="1" lang="ko-KR" altLang="en-US" sz="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메인화면</a:t>
                      </a: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 즐겨찾기 장비에 추가</a:t>
                      </a:r>
                      <a:r>
                        <a:rPr kumimoji="1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.</a:t>
                      </a: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 </a:t>
                      </a:r>
                      <a:endParaRPr lang="en-US" altLang="ko-KR" sz="6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+mn-ea"/>
                        <a:cs typeface="Gothic A1"/>
                        <a:sym typeface="Gothic A1"/>
                      </a:endParaRP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9426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 Medium"/>
                          <a:sym typeface="Gothic A1 Medium"/>
                        </a:rPr>
                        <a:t>3</a:t>
                      </a:r>
                      <a:endParaRPr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ko-KR" sz="600" b="1" i="0" u="none" strike="noStrike" cap="none" dirty="0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Ai agent </a:t>
                      </a:r>
                      <a:r>
                        <a:rPr lang="ko-KR" altLang="en-US" sz="600" b="1" i="0" u="none" strike="noStrike" cap="none" dirty="0" err="1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챗봇</a:t>
                      </a:r>
                      <a:r>
                        <a:rPr lang="ko-KR" altLang="en-US" sz="600" b="1" i="0" u="none" strike="noStrike" cap="none" dirty="0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 기능</a:t>
                      </a:r>
                    </a:p>
                    <a:p>
                      <a:pPr marL="133200" lvl="0" indent="-84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600"/>
                        <a:buFont typeface="Gothic A1"/>
                        <a:buChar char="-"/>
                      </a:pPr>
                      <a:r>
                        <a:rPr kumimoji="1" lang="ko-KR" altLang="en-US" sz="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챗봇</a:t>
                      </a: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 대화 기능 </a:t>
                      </a:r>
                      <a:endParaRPr lang="ko-KR" altLang="en-US" sz="6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+mn-ea"/>
                        <a:cs typeface="Gothic A1"/>
                        <a:sym typeface="Gothic A1"/>
                      </a:endParaRP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503632"/>
                  </a:ext>
                </a:extLst>
              </a:tr>
              <a:tr h="181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FFFF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필요사항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421113"/>
                  </a:ext>
                </a:extLst>
              </a:tr>
              <a:tr h="23872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"/>
                        <a:sym typeface="Gothic A1"/>
                      </a:endParaRP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942893"/>
                  </a:ext>
                </a:extLst>
              </a:tr>
            </a:tbl>
          </a:graphicData>
        </a:graphic>
      </p:graphicFrame>
      <p:sp>
        <p:nvSpPr>
          <p:cNvPr id="40" name="직사각형 39">
            <a:extLst>
              <a:ext uri="{FF2B5EF4-FFF2-40B4-BE49-F238E27FC236}">
                <a16:creationId xmlns:a16="http://schemas.microsoft.com/office/drawing/2014/main" id="{60DD0835-857C-AD0A-5C1E-1C53E77E6EEB}"/>
              </a:ext>
            </a:extLst>
          </p:cNvPr>
          <p:cNvSpPr/>
          <p:nvPr/>
        </p:nvSpPr>
        <p:spPr>
          <a:xfrm>
            <a:off x="195385" y="534809"/>
            <a:ext cx="6474216" cy="4776229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700" i="1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4" name="직사각형 393">
            <a:extLst>
              <a:ext uri="{FF2B5EF4-FFF2-40B4-BE49-F238E27FC236}">
                <a16:creationId xmlns:a16="http://schemas.microsoft.com/office/drawing/2014/main" id="{29D4D900-A50D-CF86-33E4-9B5A852C8F88}"/>
              </a:ext>
            </a:extLst>
          </p:cNvPr>
          <p:cNvSpPr/>
          <p:nvPr/>
        </p:nvSpPr>
        <p:spPr>
          <a:xfrm>
            <a:off x="151661" y="510828"/>
            <a:ext cx="6517939" cy="20930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7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endParaRPr lang="ko-KR" altLang="en-US" sz="7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E6BA7F7-718A-D2AD-C333-4102FCB5329D}"/>
              </a:ext>
            </a:extLst>
          </p:cNvPr>
          <p:cNvSpPr/>
          <p:nvPr/>
        </p:nvSpPr>
        <p:spPr>
          <a:xfrm>
            <a:off x="4010052" y="1101209"/>
            <a:ext cx="675304" cy="56802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사용중</a:t>
            </a:r>
            <a:endParaRPr lang="ko-KR" altLang="en-US" sz="8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688FFD3-DEF6-6DD7-5EAA-55F95105A815}"/>
              </a:ext>
            </a:extLst>
          </p:cNvPr>
          <p:cNvSpPr/>
          <p:nvPr/>
        </p:nvSpPr>
        <p:spPr>
          <a:xfrm>
            <a:off x="4697638" y="1101209"/>
            <a:ext cx="1156527" cy="56802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2025/10/29   10:00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~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2025/10/29   22:00</a:t>
            </a:r>
            <a:endParaRPr lang="ko-KR" altLang="en-US" sz="8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A5682AB-8DCB-ABB5-C33E-1607A573B072}"/>
              </a:ext>
            </a:extLst>
          </p:cNvPr>
          <p:cNvSpPr/>
          <p:nvPr/>
        </p:nvSpPr>
        <p:spPr>
          <a:xfrm>
            <a:off x="4004354" y="3985110"/>
            <a:ext cx="2530257" cy="122617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agent</a:t>
            </a:r>
            <a:endParaRPr lang="ko-KR" altLang="en-US" sz="8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2FF6396-BAB7-D4CD-E6CF-79A69550E6F9}"/>
              </a:ext>
            </a:extLst>
          </p:cNvPr>
          <p:cNvSpPr/>
          <p:nvPr/>
        </p:nvSpPr>
        <p:spPr>
          <a:xfrm>
            <a:off x="348619" y="1088212"/>
            <a:ext cx="3165397" cy="4149828"/>
          </a:xfrm>
          <a:prstGeom prst="roundRect">
            <a:avLst>
              <a:gd name="adj" fmla="val 3794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7KL </a:t>
            </a:r>
            <a:r>
              <a:rPr lang="ko-KR" altLang="en-US" dirty="0"/>
              <a:t>발효시스템 </a:t>
            </a:r>
            <a:r>
              <a:rPr lang="ko-KR" altLang="en-US" dirty="0" err="1"/>
              <a:t>디지털트윈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589160C-37F9-FCD7-2827-CF31D1FE12C9}"/>
              </a:ext>
            </a:extLst>
          </p:cNvPr>
          <p:cNvSpPr/>
          <p:nvPr/>
        </p:nvSpPr>
        <p:spPr>
          <a:xfrm>
            <a:off x="5866448" y="1101209"/>
            <a:ext cx="675304" cy="56802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예약관리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C3E5515-B719-BA58-F8F6-2F723A21F614}"/>
              </a:ext>
            </a:extLst>
          </p:cNvPr>
          <p:cNvSpPr/>
          <p:nvPr/>
        </p:nvSpPr>
        <p:spPr>
          <a:xfrm>
            <a:off x="4122598" y="4228132"/>
            <a:ext cx="2293769" cy="56802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도움이 </a:t>
            </a:r>
            <a:r>
              <a:rPr lang="ko-KR" altLang="en-US" sz="800" b="1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필요하신가요</a:t>
            </a:r>
            <a:r>
              <a:rPr lang="en-US" altLang="ko-KR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  <a:endParaRPr lang="ko-KR" altLang="en-US" sz="8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7FA0980-5628-DAD6-0BFF-166C479AC65E}"/>
              </a:ext>
            </a:extLst>
          </p:cNvPr>
          <p:cNvSpPr/>
          <p:nvPr/>
        </p:nvSpPr>
        <p:spPr>
          <a:xfrm>
            <a:off x="6061912" y="4909917"/>
            <a:ext cx="354456" cy="162660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600" b="1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대화</a:t>
            </a:r>
            <a:endParaRPr lang="en-US" altLang="ko-KR" sz="600" b="1" kern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C887FDF-9936-2549-E055-42D1872F7439}"/>
              </a:ext>
            </a:extLst>
          </p:cNvPr>
          <p:cNvSpPr/>
          <p:nvPr/>
        </p:nvSpPr>
        <p:spPr>
          <a:xfrm>
            <a:off x="4122599" y="4909917"/>
            <a:ext cx="1859102" cy="16266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Text</a:t>
            </a:r>
            <a:endParaRPr lang="ko-KR" altLang="en-US" sz="6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441326B-6A99-D2CA-081B-1D81A5A03EDD}"/>
              </a:ext>
            </a:extLst>
          </p:cNvPr>
          <p:cNvSpPr/>
          <p:nvPr/>
        </p:nvSpPr>
        <p:spPr>
          <a:xfrm>
            <a:off x="6061912" y="4008092"/>
            <a:ext cx="354456" cy="162660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600" b="1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확대</a:t>
            </a:r>
            <a:endParaRPr lang="en-US" altLang="ko-KR" sz="600" b="1" kern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E541B23-93E2-0FD2-9E04-46C9F9EB6B55}"/>
              </a:ext>
            </a:extLst>
          </p:cNvPr>
          <p:cNvSpPr/>
          <p:nvPr/>
        </p:nvSpPr>
        <p:spPr>
          <a:xfrm>
            <a:off x="348619" y="868354"/>
            <a:ext cx="503869" cy="14686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600" kern="120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배양온도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219687F-E476-ED11-8814-08543954D611}"/>
              </a:ext>
            </a:extLst>
          </p:cNvPr>
          <p:cNvSpPr/>
          <p:nvPr/>
        </p:nvSpPr>
        <p:spPr>
          <a:xfrm>
            <a:off x="896212" y="868354"/>
            <a:ext cx="503869" cy="14686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600" kern="120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압력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A80BAF70-D61A-6CD1-E093-9E3EB679721A}"/>
              </a:ext>
            </a:extLst>
          </p:cNvPr>
          <p:cNvSpPr/>
          <p:nvPr/>
        </p:nvSpPr>
        <p:spPr>
          <a:xfrm>
            <a:off x="1443805" y="868354"/>
            <a:ext cx="503869" cy="14686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en-US" altLang="ko-KR" sz="600" kern="120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pH</a:t>
            </a:r>
            <a:endParaRPr lang="ko-KR" altLang="en-US" sz="600" kern="1200" dirty="0">
              <a:solidFill>
                <a:prstClr val="whit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BF435EE-A0C7-9A00-8786-4BF9C01A7BA7}"/>
              </a:ext>
            </a:extLst>
          </p:cNvPr>
          <p:cNvSpPr/>
          <p:nvPr/>
        </p:nvSpPr>
        <p:spPr>
          <a:xfrm>
            <a:off x="1995972" y="868354"/>
            <a:ext cx="503869" cy="14686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600" kern="1200" dirty="0" err="1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용존산소</a:t>
            </a:r>
            <a:endParaRPr lang="ko-KR" altLang="en-US" sz="600" kern="1200" dirty="0">
              <a:solidFill>
                <a:prstClr val="whit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0426D53-3E96-8431-D991-341AE3EF237E}"/>
              </a:ext>
            </a:extLst>
          </p:cNvPr>
          <p:cNvSpPr/>
          <p:nvPr/>
        </p:nvSpPr>
        <p:spPr>
          <a:xfrm>
            <a:off x="4011495" y="1709966"/>
            <a:ext cx="2530257" cy="67786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최근 작동일지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CB479FD9-731E-9B39-42FF-1B36C581B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583826"/>
              </p:ext>
            </p:extLst>
          </p:nvPr>
        </p:nvGraphicFramePr>
        <p:xfrm>
          <a:off x="4122599" y="1912253"/>
          <a:ext cx="2293769" cy="365760"/>
        </p:xfrm>
        <a:graphic>
          <a:graphicData uri="http://schemas.openxmlformats.org/drawingml/2006/table">
            <a:tbl>
              <a:tblPr firstRow="1" bandRow="1">
                <a:tableStyleId>{0AC2C297-DBA1-4DD1-99DE-D7A8A66B7A42}</a:tableStyleId>
              </a:tblPr>
              <a:tblGrid>
                <a:gridCol w="600541">
                  <a:extLst>
                    <a:ext uri="{9D8B030D-6E8A-4147-A177-3AD203B41FA5}">
                      <a16:colId xmlns:a16="http://schemas.microsoft.com/office/drawing/2014/main" val="4107782807"/>
                    </a:ext>
                  </a:extLst>
                </a:gridCol>
                <a:gridCol w="408080">
                  <a:extLst>
                    <a:ext uri="{9D8B030D-6E8A-4147-A177-3AD203B41FA5}">
                      <a16:colId xmlns:a16="http://schemas.microsoft.com/office/drawing/2014/main" val="2154925479"/>
                    </a:ext>
                  </a:extLst>
                </a:gridCol>
                <a:gridCol w="400522">
                  <a:extLst>
                    <a:ext uri="{9D8B030D-6E8A-4147-A177-3AD203B41FA5}">
                      <a16:colId xmlns:a16="http://schemas.microsoft.com/office/drawing/2014/main" val="1268145734"/>
                    </a:ext>
                  </a:extLst>
                </a:gridCol>
                <a:gridCol w="442313">
                  <a:extLst>
                    <a:ext uri="{9D8B030D-6E8A-4147-A177-3AD203B41FA5}">
                      <a16:colId xmlns:a16="http://schemas.microsoft.com/office/drawing/2014/main" val="1831738347"/>
                    </a:ext>
                  </a:extLst>
                </a:gridCol>
                <a:gridCol w="442313">
                  <a:extLst>
                    <a:ext uri="{9D8B030D-6E8A-4147-A177-3AD203B41FA5}">
                      <a16:colId xmlns:a16="http://schemas.microsoft.com/office/drawing/2014/main" val="779485775"/>
                    </a:ext>
                  </a:extLst>
                </a:gridCol>
              </a:tblGrid>
              <a:tr h="1801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i="0" u="none" strike="noStrike" cap="none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일시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i="0" u="none" strike="noStrike" cap="none" dirty="0" err="1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균주명</a:t>
                      </a:r>
                      <a:endParaRPr lang="ko-KR" altLang="en-US" sz="600" b="0" i="0" u="none" strike="noStrike" cap="none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i="0" u="none" strike="noStrike" cap="none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  <a:sym typeface="Arial"/>
                        </a:rPr>
                        <a:t>Data2</a:t>
                      </a:r>
                      <a:endParaRPr lang="ko-KR" altLang="en-US" sz="600" b="0" i="0" u="none" strike="noStrike" cap="none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i="0" u="none" strike="noStrike" cap="none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  <a:sym typeface="Arial"/>
                        </a:rPr>
                        <a:t>Data3</a:t>
                      </a:r>
                      <a:endParaRPr lang="ko-KR" altLang="en-US" sz="600" b="0" i="0" u="none" strike="noStrike" cap="none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i="0" u="none" strike="noStrike" cap="none" dirty="0">
                          <a:solidFill>
                            <a:schemeClr val="bg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  <a:sym typeface="Arial"/>
                        </a:rPr>
                        <a:t>Data4</a:t>
                      </a:r>
                      <a:endParaRPr lang="ko-KR" altLang="en-US" sz="600" b="0" i="0" u="none" strike="noStrike" cap="none" dirty="0">
                        <a:solidFill>
                          <a:schemeClr val="bg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804861"/>
                  </a:ext>
                </a:extLst>
              </a:tr>
              <a:tr h="1801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i="0" u="none" strike="noStrike" cap="none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10/30  11:45</a:t>
                      </a:r>
                      <a:endParaRPr lang="ko-KR" altLang="en-US" sz="600" b="0" i="0" u="none" strike="noStrike" cap="none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 marL="72000" marR="72000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0" i="0" u="none" strike="noStrike" cap="none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유산균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i="0" u="none" strike="noStrike" cap="none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…</a:t>
                      </a:r>
                      <a:endParaRPr lang="ko-KR" altLang="en-US" sz="600" b="0" i="0" u="none" strike="noStrike" cap="none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i="0" u="none" strike="noStrike" cap="none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…</a:t>
                      </a:r>
                      <a:endParaRPr lang="ko-KR" altLang="en-US" sz="600" b="0" i="0" u="none" strike="noStrike" cap="none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i="0" u="none" strike="noStrike" cap="none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  <a:sym typeface="Arial"/>
                        </a:rPr>
                        <a:t>…</a:t>
                      </a:r>
                      <a:endParaRPr lang="ko-KR" altLang="en-US" sz="600" b="0" i="0" u="none" strike="noStrike" cap="none" dirty="0">
                        <a:solidFill>
                          <a:schemeClr val="tx1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7978321"/>
                  </a:ext>
                </a:extLst>
              </a:tr>
            </a:tbl>
          </a:graphicData>
        </a:graphic>
      </p:graphicFrame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C151CB2-AC89-3A4E-34A2-4D5238FE8532}"/>
              </a:ext>
            </a:extLst>
          </p:cNvPr>
          <p:cNvSpPr/>
          <p:nvPr/>
        </p:nvSpPr>
        <p:spPr>
          <a:xfrm>
            <a:off x="3945629" y="2501593"/>
            <a:ext cx="2665628" cy="1449119"/>
          </a:xfrm>
          <a:prstGeom prst="roundRect">
            <a:avLst>
              <a:gd name="adj" fmla="val 2995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Google Shape;208;p21">
            <a:extLst>
              <a:ext uri="{FF2B5EF4-FFF2-40B4-BE49-F238E27FC236}">
                <a16:creationId xmlns:a16="http://schemas.microsoft.com/office/drawing/2014/main" id="{A13A84D3-A123-7895-43F1-70CBEC30B168}"/>
              </a:ext>
            </a:extLst>
          </p:cNvPr>
          <p:cNvSpPr/>
          <p:nvPr/>
        </p:nvSpPr>
        <p:spPr>
          <a:xfrm>
            <a:off x="269321" y="759362"/>
            <a:ext cx="173849" cy="173849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28575" dir="264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600" b="1" dirty="0">
                <a:latin typeface="Gothic A1"/>
                <a:ea typeface="Gothic A1"/>
                <a:cs typeface="Gothic A1"/>
                <a:sym typeface="Gothic A1"/>
              </a:rPr>
              <a:t>1</a:t>
            </a:r>
            <a:endParaRPr sz="600" b="1" dirty="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41" name="Google Shape;208;p21">
            <a:extLst>
              <a:ext uri="{FF2B5EF4-FFF2-40B4-BE49-F238E27FC236}">
                <a16:creationId xmlns:a16="http://schemas.microsoft.com/office/drawing/2014/main" id="{61DE7C64-768E-0C40-D448-4CE3DDC73CC7}"/>
              </a:ext>
            </a:extLst>
          </p:cNvPr>
          <p:cNvSpPr/>
          <p:nvPr/>
        </p:nvSpPr>
        <p:spPr>
          <a:xfrm>
            <a:off x="3895568" y="3989100"/>
            <a:ext cx="173849" cy="173849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28575" dir="264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600" b="1" dirty="0">
                <a:latin typeface="Gothic A1"/>
                <a:ea typeface="Gothic A1"/>
                <a:cs typeface="Gothic A1"/>
                <a:sym typeface="Gothic A1"/>
              </a:rPr>
              <a:t>3</a:t>
            </a:r>
            <a:endParaRPr sz="600" b="1" dirty="0">
              <a:latin typeface="Gothic A1"/>
              <a:ea typeface="Gothic A1"/>
              <a:cs typeface="Gothic A1"/>
              <a:sym typeface="Gothic A1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A9F18613-17BD-5529-1C36-C3EBD168FD4D}"/>
              </a:ext>
            </a:extLst>
          </p:cNvPr>
          <p:cNvGrpSpPr/>
          <p:nvPr/>
        </p:nvGrpSpPr>
        <p:grpSpPr>
          <a:xfrm>
            <a:off x="4027471" y="2559488"/>
            <a:ext cx="2530257" cy="1330768"/>
            <a:chOff x="4004354" y="2559264"/>
            <a:chExt cx="2530257" cy="1226177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813409EC-B9FE-5B83-B278-D3AC5C451D3D}"/>
                </a:ext>
              </a:extLst>
            </p:cNvPr>
            <p:cNvSpPr/>
            <p:nvPr/>
          </p:nvSpPr>
          <p:spPr>
            <a:xfrm>
              <a:off x="4004354" y="2559264"/>
              <a:ext cx="2530257" cy="122617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altLang="ko-KR" sz="8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‘</a:t>
              </a:r>
              <a:r>
                <a:rPr lang="ko-KR" altLang="en-US" sz="800" b="1" dirty="0">
                  <a:solidFill>
                    <a:srgbClr val="EF86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배양온도</a:t>
              </a:r>
              <a:r>
                <a:rPr lang="en-US" altLang="ko-KR" sz="8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’</a:t>
              </a:r>
              <a:r>
                <a:rPr lang="ko-KR" altLang="en-US" sz="8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이상감지</a:t>
              </a:r>
            </a:p>
          </p:txBody>
        </p:sp>
        <p:graphicFrame>
          <p:nvGraphicFramePr>
            <p:cNvPr id="44" name="차트 43">
              <a:extLst>
                <a:ext uri="{FF2B5EF4-FFF2-40B4-BE49-F238E27FC236}">
                  <a16:creationId xmlns:a16="http://schemas.microsoft.com/office/drawing/2014/main" id="{59FF0EA0-A45A-0D37-9827-0076F393A43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965403809"/>
                </p:ext>
              </p:extLst>
            </p:nvPr>
          </p:nvGraphicFramePr>
          <p:xfrm>
            <a:off x="4160699" y="2754716"/>
            <a:ext cx="2211882" cy="959939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sp>
        <p:nvSpPr>
          <p:cNvPr id="45" name="타원 44">
            <a:extLst>
              <a:ext uri="{FF2B5EF4-FFF2-40B4-BE49-F238E27FC236}">
                <a16:creationId xmlns:a16="http://schemas.microsoft.com/office/drawing/2014/main" id="{3D1170EC-ED75-EE44-8F09-C13192E30F75}"/>
              </a:ext>
            </a:extLst>
          </p:cNvPr>
          <p:cNvSpPr/>
          <p:nvPr/>
        </p:nvSpPr>
        <p:spPr>
          <a:xfrm>
            <a:off x="4884738" y="2999561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2110DEB7-FAF0-BD5D-A766-C03C5555047E}"/>
              </a:ext>
            </a:extLst>
          </p:cNvPr>
          <p:cNvSpPr/>
          <p:nvPr/>
        </p:nvSpPr>
        <p:spPr>
          <a:xfrm>
            <a:off x="5825515" y="3081952"/>
            <a:ext cx="45719" cy="4571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A38627-F781-DD67-0094-575F347164CE}"/>
              </a:ext>
            </a:extLst>
          </p:cNvPr>
          <p:cNvSpPr txBox="1"/>
          <p:nvPr/>
        </p:nvSpPr>
        <p:spPr>
          <a:xfrm>
            <a:off x="4538107" y="2819871"/>
            <a:ext cx="739312" cy="208416"/>
          </a:xfrm>
          <a:prstGeom prst="rect">
            <a:avLst/>
          </a:prstGeom>
          <a:noFill/>
          <a:ln>
            <a:noFill/>
          </a:ln>
        </p:spPr>
        <p:txBody>
          <a:bodyPr wrap="square" lIns="27000" tIns="27000" rIns="27000" bIns="27000" rtlCol="0" anchor="ctr">
            <a:spAutoFit/>
          </a:bodyPr>
          <a:lstStyle/>
          <a:p>
            <a:pPr lvl="0" algn="ctr">
              <a:defRPr/>
            </a:pPr>
            <a:r>
              <a:rPr lang="en-US" altLang="ko-KR" sz="5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2025.10.30.  14:15:25   </a:t>
            </a:r>
            <a:br>
              <a:rPr lang="en-US" altLang="ko-KR" sz="5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5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5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22º</a:t>
            </a:r>
            <a:endParaRPr lang="ko-KR" altLang="en-US" sz="500" b="1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39B50F-1563-A92F-EAA2-2EC78CBDC1D8}"/>
              </a:ext>
            </a:extLst>
          </p:cNvPr>
          <p:cNvSpPr txBox="1"/>
          <p:nvPr/>
        </p:nvSpPr>
        <p:spPr>
          <a:xfrm>
            <a:off x="5490624" y="3093779"/>
            <a:ext cx="739312" cy="208416"/>
          </a:xfrm>
          <a:prstGeom prst="rect">
            <a:avLst/>
          </a:prstGeom>
          <a:noFill/>
          <a:ln>
            <a:noFill/>
          </a:ln>
        </p:spPr>
        <p:txBody>
          <a:bodyPr wrap="square" lIns="27000" tIns="27000" rIns="27000" bIns="27000" rtlCol="0" anchor="ctr">
            <a:spAutoFit/>
          </a:bodyPr>
          <a:lstStyle/>
          <a:p>
            <a:pPr lvl="0" algn="ctr">
              <a:defRPr/>
            </a:pPr>
            <a:r>
              <a:rPr lang="en-US" altLang="ko-KR" sz="5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19º</a:t>
            </a:r>
            <a:endParaRPr lang="en-US" altLang="ko-KR" sz="5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lvl="0" algn="ctr">
              <a:defRPr/>
            </a:pPr>
            <a:r>
              <a:rPr lang="en-US" altLang="ko-KR" sz="5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2025.10.30.  18:15:25   </a:t>
            </a:r>
            <a:endParaRPr lang="ko-KR" altLang="en-US" sz="500" b="1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4A307C06-ADA7-AC24-EC23-24A21F329A36}"/>
              </a:ext>
            </a:extLst>
          </p:cNvPr>
          <p:cNvSpPr/>
          <p:nvPr/>
        </p:nvSpPr>
        <p:spPr>
          <a:xfrm>
            <a:off x="5896501" y="810459"/>
            <a:ext cx="662431" cy="14686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600" kern="120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즐겨찾기</a:t>
            </a:r>
          </a:p>
        </p:txBody>
      </p:sp>
      <p:sp>
        <p:nvSpPr>
          <p:cNvPr id="6" name="Google Shape;208;p21">
            <a:extLst>
              <a:ext uri="{FF2B5EF4-FFF2-40B4-BE49-F238E27FC236}">
                <a16:creationId xmlns:a16="http://schemas.microsoft.com/office/drawing/2014/main" id="{B96037B2-6523-52BB-D650-F85030CADAFD}"/>
              </a:ext>
            </a:extLst>
          </p:cNvPr>
          <p:cNvSpPr/>
          <p:nvPr/>
        </p:nvSpPr>
        <p:spPr>
          <a:xfrm>
            <a:off x="5793879" y="694505"/>
            <a:ext cx="173849" cy="173849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28575" dir="264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600" b="1" dirty="0">
                <a:latin typeface="Gothic A1"/>
                <a:ea typeface="Gothic A1"/>
                <a:cs typeface="Gothic A1"/>
                <a:sym typeface="Gothic A1"/>
              </a:rPr>
              <a:t>2</a:t>
            </a:r>
            <a:endParaRPr sz="600" b="1" dirty="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AE6B631-0865-082E-2EFD-4EE80F821B88}"/>
              </a:ext>
            </a:extLst>
          </p:cNvPr>
          <p:cNvSpPr/>
          <p:nvPr/>
        </p:nvSpPr>
        <p:spPr>
          <a:xfrm>
            <a:off x="4789388" y="810100"/>
            <a:ext cx="925193" cy="205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600" kern="120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시뮬레이션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5E48292-504B-C163-134B-159E1B3FC48D}"/>
              </a:ext>
            </a:extLst>
          </p:cNvPr>
          <p:cNvCxnSpPr>
            <a:cxnSpLocks/>
            <a:stCxn id="39" idx="3"/>
            <a:endCxn id="38" idx="1"/>
          </p:cNvCxnSpPr>
          <p:nvPr/>
        </p:nvCxnSpPr>
        <p:spPr>
          <a:xfrm>
            <a:off x="443170" y="846287"/>
            <a:ext cx="3410452" cy="1684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Google Shape;208;p21">
            <a:extLst>
              <a:ext uri="{FF2B5EF4-FFF2-40B4-BE49-F238E27FC236}">
                <a16:creationId xmlns:a16="http://schemas.microsoft.com/office/drawing/2014/main" id="{91187E6F-1610-6129-2BC1-DAB5D7555C22}"/>
              </a:ext>
            </a:extLst>
          </p:cNvPr>
          <p:cNvSpPr/>
          <p:nvPr/>
        </p:nvSpPr>
        <p:spPr>
          <a:xfrm>
            <a:off x="3853622" y="2443882"/>
            <a:ext cx="173849" cy="173849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28575" dir="264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600" b="1" dirty="0">
                <a:latin typeface="Gothic A1"/>
                <a:ea typeface="Gothic A1"/>
                <a:cs typeface="Gothic A1"/>
                <a:sym typeface="Gothic A1"/>
              </a:rPr>
              <a:t>1-2</a:t>
            </a:r>
            <a:endParaRPr sz="600" b="1" dirty="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9" name="Google Shape;208;p21">
            <a:extLst>
              <a:ext uri="{FF2B5EF4-FFF2-40B4-BE49-F238E27FC236}">
                <a16:creationId xmlns:a16="http://schemas.microsoft.com/office/drawing/2014/main" id="{107E3D5F-9BAA-C311-390E-95A87E60F2C4}"/>
              </a:ext>
            </a:extLst>
          </p:cNvPr>
          <p:cNvSpPr/>
          <p:nvPr/>
        </p:nvSpPr>
        <p:spPr>
          <a:xfrm>
            <a:off x="896212" y="2777090"/>
            <a:ext cx="173849" cy="173849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28575" dir="264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600" b="1" dirty="0">
                <a:latin typeface="Gothic A1"/>
                <a:ea typeface="Gothic A1"/>
                <a:cs typeface="Gothic A1"/>
                <a:sym typeface="Gothic A1"/>
              </a:rPr>
              <a:t>1-1</a:t>
            </a:r>
            <a:endParaRPr sz="600" b="1" dirty="0">
              <a:latin typeface="Gothic A1"/>
              <a:ea typeface="Gothic A1"/>
              <a:cs typeface="Gothic A1"/>
              <a:sym typeface="Gothic A1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390CF4E-5C93-15F2-F1DF-7088E08BA29E}"/>
              </a:ext>
            </a:extLst>
          </p:cNvPr>
          <p:cNvCxnSpPr>
            <a:cxnSpLocks/>
            <a:stCxn id="39" idx="3"/>
            <a:endCxn id="19" idx="0"/>
          </p:cNvCxnSpPr>
          <p:nvPr/>
        </p:nvCxnSpPr>
        <p:spPr>
          <a:xfrm>
            <a:off x="443170" y="846287"/>
            <a:ext cx="539967" cy="1930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820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>
          <a:extLst>
            <a:ext uri="{FF2B5EF4-FFF2-40B4-BE49-F238E27FC236}">
              <a16:creationId xmlns:a16="http://schemas.microsoft.com/office/drawing/2014/main" id="{6B11FEE8-D925-E642-AC67-EAA6F04CA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1">
            <a:extLst>
              <a:ext uri="{FF2B5EF4-FFF2-40B4-BE49-F238E27FC236}">
                <a16:creationId xmlns:a16="http://schemas.microsoft.com/office/drawing/2014/main" id="{73A5DE0B-F27C-07A7-D9D1-ADB8F70A2B6D}"/>
              </a:ext>
            </a:extLst>
          </p:cNvPr>
          <p:cNvSpPr txBox="1"/>
          <p:nvPr/>
        </p:nvSpPr>
        <p:spPr>
          <a:xfrm>
            <a:off x="797425" y="193050"/>
            <a:ext cx="1551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r>
              <a:rPr lang="ko-KR" altLang="en-US" sz="700" dirty="0">
                <a:solidFill>
                  <a:schemeClr val="dk1"/>
                </a:solidFill>
              </a:rPr>
              <a:t>공통</a:t>
            </a:r>
            <a:endParaRPr sz="700" dirty="0">
              <a:solidFill>
                <a:schemeClr val="dk1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397" name="Google Shape;397;p31">
            <a:extLst>
              <a:ext uri="{FF2B5EF4-FFF2-40B4-BE49-F238E27FC236}">
                <a16:creationId xmlns:a16="http://schemas.microsoft.com/office/drawing/2014/main" id="{B379B8DC-F675-772E-109A-AE484006408A}"/>
              </a:ext>
            </a:extLst>
          </p:cNvPr>
          <p:cNvSpPr txBox="1"/>
          <p:nvPr/>
        </p:nvSpPr>
        <p:spPr>
          <a:xfrm>
            <a:off x="5848375" y="193050"/>
            <a:ext cx="1373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pPr>
              <a:buSzPts val="800"/>
            </a:pPr>
            <a:r>
              <a:rPr lang="en-US" altLang="ko-KR" sz="700" dirty="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-</a:t>
            </a:r>
            <a:endParaRPr sz="700" dirty="0"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400" name="Google Shape;400;p31">
            <a:extLst>
              <a:ext uri="{FF2B5EF4-FFF2-40B4-BE49-F238E27FC236}">
                <a16:creationId xmlns:a16="http://schemas.microsoft.com/office/drawing/2014/main" id="{F37CD86C-8049-B651-63AB-0F5D1B260F40}"/>
              </a:ext>
            </a:extLst>
          </p:cNvPr>
          <p:cNvSpPr txBox="1"/>
          <p:nvPr/>
        </p:nvSpPr>
        <p:spPr>
          <a:xfrm>
            <a:off x="7871326" y="193050"/>
            <a:ext cx="1134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altLang="ko" sz="700" dirty="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2025.0</a:t>
            </a:r>
            <a:r>
              <a:rPr lang="en-US" altLang="ko-KR" sz="700" dirty="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9.24</a:t>
            </a:r>
            <a:endParaRPr sz="700" dirty="0">
              <a:solidFill>
                <a:schemeClr val="dk1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690EF9D-EC03-3389-73DB-6840412FE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218727"/>
              </p:ext>
            </p:extLst>
          </p:nvPr>
        </p:nvGraphicFramePr>
        <p:xfrm>
          <a:off x="6777710" y="510828"/>
          <a:ext cx="2228517" cy="2089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55">
                  <a:extLst>
                    <a:ext uri="{9D8B030D-6E8A-4147-A177-3AD203B41FA5}">
                      <a16:colId xmlns:a16="http://schemas.microsoft.com/office/drawing/2014/main" val="1649533771"/>
                    </a:ext>
                  </a:extLst>
                </a:gridCol>
                <a:gridCol w="1935362">
                  <a:extLst>
                    <a:ext uri="{9D8B030D-6E8A-4147-A177-3AD203B41FA5}">
                      <a16:colId xmlns:a16="http://schemas.microsoft.com/office/drawing/2014/main" val="1453130143"/>
                    </a:ext>
                  </a:extLst>
                </a:gridCol>
              </a:tblGrid>
              <a:tr h="181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u="none" strike="noStrike" cap="non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화면 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977616065"/>
                  </a:ext>
                </a:extLst>
              </a:tr>
              <a:tr h="181728">
                <a:tc gridSpan="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687718"/>
                  </a:ext>
                </a:extLst>
              </a:tr>
              <a:tr h="181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7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41008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 Medium"/>
                          <a:sym typeface="Gothic A1 Medium"/>
                        </a:rPr>
                        <a:t>1</a:t>
                      </a:r>
                      <a:endParaRPr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600" b="1" i="0" u="none" strike="noStrike" cap="none" dirty="0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시뮬레이션 버튼 </a:t>
                      </a:r>
                    </a:p>
                    <a:p>
                      <a:pPr marL="133200" lvl="0" indent="-84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600"/>
                        <a:buFont typeface="Gothic A1"/>
                        <a:buChar char="-"/>
                      </a:pP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시뮬레이션 팝업 노출</a:t>
                      </a:r>
                      <a:r>
                        <a:rPr kumimoji="1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(</a:t>
                      </a: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슬라이드 </a:t>
                      </a:r>
                      <a:r>
                        <a:rPr kumimoji="1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7)</a:t>
                      </a:r>
                      <a:endParaRPr kumimoji="1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"/>
                        <a:sym typeface="Gothic A1"/>
                      </a:endParaRP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43934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 Medium"/>
                          <a:sym typeface="Gothic A1 Medium"/>
                        </a:rPr>
                        <a:t>2</a:t>
                      </a:r>
                      <a:endParaRPr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ko-KR" sz="600" b="1" i="0" u="none" strike="noStrike" cap="none" dirty="0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AI </a:t>
                      </a:r>
                      <a:r>
                        <a:rPr lang="ko-KR" altLang="en-US" sz="600" b="1" i="0" u="none" strike="noStrike" cap="none" dirty="0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에이전트 확대 상태</a:t>
                      </a:r>
                    </a:p>
                    <a:p>
                      <a:pPr marL="133200" lvl="0" indent="-84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600"/>
                        <a:buFont typeface="Gothic A1"/>
                        <a:buChar char="-"/>
                      </a:pPr>
                      <a:r>
                        <a:rPr kumimoji="1" lang="ko-KR" altLang="en-US" sz="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챗봇</a:t>
                      </a: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 형태의 일반적인 </a:t>
                      </a:r>
                      <a:r>
                        <a:rPr kumimoji="1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AI </a:t>
                      </a: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에이전트와 동일하게 작동</a:t>
                      </a: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9426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6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+mn-ea"/>
                        <a:cs typeface="Gothic A1"/>
                        <a:sym typeface="Gothic A1"/>
                      </a:endParaRP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503632"/>
                  </a:ext>
                </a:extLst>
              </a:tr>
              <a:tr h="181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FFFF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필요사항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421113"/>
                  </a:ext>
                </a:extLst>
              </a:tr>
              <a:tr h="23872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"/>
                        <a:sym typeface="Gothic A1"/>
                      </a:endParaRP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942893"/>
                  </a:ext>
                </a:extLst>
              </a:tr>
            </a:tbl>
          </a:graphicData>
        </a:graphic>
      </p:graphicFrame>
      <p:sp>
        <p:nvSpPr>
          <p:cNvPr id="40" name="직사각형 39">
            <a:extLst>
              <a:ext uri="{FF2B5EF4-FFF2-40B4-BE49-F238E27FC236}">
                <a16:creationId xmlns:a16="http://schemas.microsoft.com/office/drawing/2014/main" id="{54A6BA26-80DC-7D0F-29ED-4D2449CB686E}"/>
              </a:ext>
            </a:extLst>
          </p:cNvPr>
          <p:cNvSpPr/>
          <p:nvPr/>
        </p:nvSpPr>
        <p:spPr>
          <a:xfrm>
            <a:off x="195385" y="534809"/>
            <a:ext cx="6474216" cy="4776229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700" i="1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24670103-D245-5EBA-79B6-39CA61A22C49}"/>
              </a:ext>
            </a:extLst>
          </p:cNvPr>
          <p:cNvSpPr/>
          <p:nvPr/>
        </p:nvSpPr>
        <p:spPr>
          <a:xfrm>
            <a:off x="4010052" y="1388974"/>
            <a:ext cx="675304" cy="56802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사용중</a:t>
            </a:r>
            <a:endParaRPr lang="ko-KR" altLang="en-US" sz="8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D4DE66A-BC72-2016-3875-0FAC0AF4A8A3}"/>
              </a:ext>
            </a:extLst>
          </p:cNvPr>
          <p:cNvSpPr/>
          <p:nvPr/>
        </p:nvSpPr>
        <p:spPr>
          <a:xfrm>
            <a:off x="4697638" y="1388974"/>
            <a:ext cx="1156527" cy="56802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2025/10/29   10:00</a:t>
            </a:r>
          </a:p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2025/10/29   22:00</a:t>
            </a:r>
            <a:endParaRPr lang="ko-KR" altLang="en-US" sz="8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8" name="직사각형 387">
            <a:extLst>
              <a:ext uri="{FF2B5EF4-FFF2-40B4-BE49-F238E27FC236}">
                <a16:creationId xmlns:a16="http://schemas.microsoft.com/office/drawing/2014/main" id="{4A97B706-C929-7B05-1D5F-E5A6C2A4359C}"/>
              </a:ext>
            </a:extLst>
          </p:cNvPr>
          <p:cNvSpPr/>
          <p:nvPr/>
        </p:nvSpPr>
        <p:spPr>
          <a:xfrm>
            <a:off x="4011495" y="1980982"/>
            <a:ext cx="2530257" cy="20930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작동일지</a:t>
            </a:r>
          </a:p>
        </p:txBody>
      </p:sp>
      <p:sp>
        <p:nvSpPr>
          <p:cNvPr id="390" name="직사각형 389">
            <a:extLst>
              <a:ext uri="{FF2B5EF4-FFF2-40B4-BE49-F238E27FC236}">
                <a16:creationId xmlns:a16="http://schemas.microsoft.com/office/drawing/2014/main" id="{06CB2893-AF4E-82A9-6240-5694D7BB020B}"/>
              </a:ext>
            </a:extLst>
          </p:cNvPr>
          <p:cNvSpPr/>
          <p:nvPr/>
        </p:nvSpPr>
        <p:spPr>
          <a:xfrm>
            <a:off x="4004354" y="2449665"/>
            <a:ext cx="2530257" cy="2747108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agent</a:t>
            </a:r>
            <a:endParaRPr lang="ko-KR" altLang="en-US" sz="8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4" name="직사각형 393">
            <a:extLst>
              <a:ext uri="{FF2B5EF4-FFF2-40B4-BE49-F238E27FC236}">
                <a16:creationId xmlns:a16="http://schemas.microsoft.com/office/drawing/2014/main" id="{4F5E4613-4312-3700-B1E7-4D296A4E7E5A}"/>
              </a:ext>
            </a:extLst>
          </p:cNvPr>
          <p:cNvSpPr/>
          <p:nvPr/>
        </p:nvSpPr>
        <p:spPr>
          <a:xfrm>
            <a:off x="151661" y="510828"/>
            <a:ext cx="6517939" cy="20930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7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endParaRPr lang="ko-KR" altLang="en-US" sz="7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5" name="사각형: 둥근 모서리 394">
            <a:extLst>
              <a:ext uri="{FF2B5EF4-FFF2-40B4-BE49-F238E27FC236}">
                <a16:creationId xmlns:a16="http://schemas.microsoft.com/office/drawing/2014/main" id="{4BC7EAC7-E52A-624B-6ED6-996428209406}"/>
              </a:ext>
            </a:extLst>
          </p:cNvPr>
          <p:cNvSpPr/>
          <p:nvPr/>
        </p:nvSpPr>
        <p:spPr>
          <a:xfrm>
            <a:off x="348619" y="1088212"/>
            <a:ext cx="3165397" cy="4149828"/>
          </a:xfrm>
          <a:prstGeom prst="roundRect">
            <a:avLst>
              <a:gd name="adj" fmla="val 3794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7KL </a:t>
            </a:r>
            <a:r>
              <a:rPr lang="ko-KR" altLang="en-US" dirty="0"/>
              <a:t>발효시스템 </a:t>
            </a:r>
            <a:r>
              <a:rPr lang="ko-KR" altLang="en-US" dirty="0" err="1"/>
              <a:t>디지털트윈</a:t>
            </a:r>
            <a:endParaRPr lang="ko-KR" altLang="en-US" dirty="0"/>
          </a:p>
        </p:txBody>
      </p:sp>
      <p:sp>
        <p:nvSpPr>
          <p:cNvPr id="398" name="사각형: 둥근 모서리 397">
            <a:extLst>
              <a:ext uri="{FF2B5EF4-FFF2-40B4-BE49-F238E27FC236}">
                <a16:creationId xmlns:a16="http://schemas.microsoft.com/office/drawing/2014/main" id="{0152056D-583C-EC91-5D64-253A7780008B}"/>
              </a:ext>
            </a:extLst>
          </p:cNvPr>
          <p:cNvSpPr/>
          <p:nvPr/>
        </p:nvSpPr>
        <p:spPr>
          <a:xfrm>
            <a:off x="348619" y="868354"/>
            <a:ext cx="503869" cy="14686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600" kern="120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배양온도</a:t>
            </a:r>
          </a:p>
        </p:txBody>
      </p:sp>
      <p:sp>
        <p:nvSpPr>
          <p:cNvPr id="399" name="직사각형 398">
            <a:extLst>
              <a:ext uri="{FF2B5EF4-FFF2-40B4-BE49-F238E27FC236}">
                <a16:creationId xmlns:a16="http://schemas.microsoft.com/office/drawing/2014/main" id="{294898C9-DA29-D2FA-994B-67B97076F7E7}"/>
              </a:ext>
            </a:extLst>
          </p:cNvPr>
          <p:cNvSpPr/>
          <p:nvPr/>
        </p:nvSpPr>
        <p:spPr>
          <a:xfrm>
            <a:off x="5866448" y="1388974"/>
            <a:ext cx="675304" cy="568022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예약관리</a:t>
            </a:r>
          </a:p>
        </p:txBody>
      </p:sp>
      <p:sp>
        <p:nvSpPr>
          <p:cNvPr id="402" name="직사각형 401">
            <a:extLst>
              <a:ext uri="{FF2B5EF4-FFF2-40B4-BE49-F238E27FC236}">
                <a16:creationId xmlns:a16="http://schemas.microsoft.com/office/drawing/2014/main" id="{8C7BCD5E-D952-3EBB-6633-148220C1BCC7}"/>
              </a:ext>
            </a:extLst>
          </p:cNvPr>
          <p:cNvSpPr/>
          <p:nvPr/>
        </p:nvSpPr>
        <p:spPr>
          <a:xfrm>
            <a:off x="4122598" y="2682957"/>
            <a:ext cx="2293769" cy="2098681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도움이 </a:t>
            </a:r>
            <a:r>
              <a:rPr lang="ko-KR" altLang="en-US" sz="800" b="1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필요하신가요</a:t>
            </a:r>
            <a:r>
              <a:rPr lang="en-US" altLang="ko-KR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  <a:endParaRPr lang="ko-KR" altLang="en-US" sz="8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4" name="사각형: 둥근 모서리 403">
            <a:extLst>
              <a:ext uri="{FF2B5EF4-FFF2-40B4-BE49-F238E27FC236}">
                <a16:creationId xmlns:a16="http://schemas.microsoft.com/office/drawing/2014/main" id="{CF88A550-CF85-AB34-01FA-E6BB00BC14B0}"/>
              </a:ext>
            </a:extLst>
          </p:cNvPr>
          <p:cNvSpPr/>
          <p:nvPr/>
        </p:nvSpPr>
        <p:spPr>
          <a:xfrm>
            <a:off x="6061912" y="4895402"/>
            <a:ext cx="354456" cy="162660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600" b="1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대화</a:t>
            </a:r>
            <a:endParaRPr lang="en-US" altLang="ko-KR" sz="600" b="1" kern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5" name="직사각형 404">
            <a:extLst>
              <a:ext uri="{FF2B5EF4-FFF2-40B4-BE49-F238E27FC236}">
                <a16:creationId xmlns:a16="http://schemas.microsoft.com/office/drawing/2014/main" id="{0904E72A-13E9-36D1-4B57-3C252C036913}"/>
              </a:ext>
            </a:extLst>
          </p:cNvPr>
          <p:cNvSpPr/>
          <p:nvPr/>
        </p:nvSpPr>
        <p:spPr>
          <a:xfrm>
            <a:off x="4122599" y="4895402"/>
            <a:ext cx="1859102" cy="16266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Text</a:t>
            </a:r>
            <a:endParaRPr lang="ko-KR" altLang="en-US" sz="6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06" name="사각형: 둥근 모서리 405">
            <a:extLst>
              <a:ext uri="{FF2B5EF4-FFF2-40B4-BE49-F238E27FC236}">
                <a16:creationId xmlns:a16="http://schemas.microsoft.com/office/drawing/2014/main" id="{0A59FA90-C389-D0CA-97E8-86F89A14D9C7}"/>
              </a:ext>
            </a:extLst>
          </p:cNvPr>
          <p:cNvSpPr/>
          <p:nvPr/>
        </p:nvSpPr>
        <p:spPr>
          <a:xfrm>
            <a:off x="6061912" y="2491624"/>
            <a:ext cx="354456" cy="162660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600" b="1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축소</a:t>
            </a:r>
            <a:endParaRPr lang="en-US" altLang="ko-KR" sz="600" b="1" kern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3DAC541-EDF9-6472-88D5-096F16A522D4}"/>
              </a:ext>
            </a:extLst>
          </p:cNvPr>
          <p:cNvSpPr/>
          <p:nvPr/>
        </p:nvSpPr>
        <p:spPr>
          <a:xfrm>
            <a:off x="896212" y="868354"/>
            <a:ext cx="503869" cy="14686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600" kern="120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압력</a:t>
            </a:r>
            <a:endParaRPr lang="ko-KR" altLang="en-US" sz="600" kern="1200" dirty="0">
              <a:solidFill>
                <a:prstClr val="whit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BCBED6F-C01E-0B92-47CE-76D64269164E}"/>
              </a:ext>
            </a:extLst>
          </p:cNvPr>
          <p:cNvSpPr/>
          <p:nvPr/>
        </p:nvSpPr>
        <p:spPr>
          <a:xfrm>
            <a:off x="1443805" y="868354"/>
            <a:ext cx="503869" cy="14686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en-US" altLang="ko-KR" sz="600" kern="120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pH</a:t>
            </a:r>
            <a:endParaRPr lang="ko-KR" altLang="en-US" sz="600" kern="1200" dirty="0">
              <a:solidFill>
                <a:prstClr val="whit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A2EA704-CA71-69AD-0F31-A3AD97BEFDC3}"/>
              </a:ext>
            </a:extLst>
          </p:cNvPr>
          <p:cNvSpPr/>
          <p:nvPr/>
        </p:nvSpPr>
        <p:spPr>
          <a:xfrm>
            <a:off x="1995972" y="868354"/>
            <a:ext cx="503869" cy="14686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600" kern="1200" dirty="0" err="1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용존산소</a:t>
            </a:r>
            <a:endParaRPr lang="ko-KR" altLang="en-US" sz="600" kern="1200" dirty="0">
              <a:solidFill>
                <a:prstClr val="whit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E4AC5F6-A871-F283-969A-ED4D282A66CF}"/>
              </a:ext>
            </a:extLst>
          </p:cNvPr>
          <p:cNvSpPr/>
          <p:nvPr/>
        </p:nvSpPr>
        <p:spPr>
          <a:xfrm>
            <a:off x="4011495" y="2209582"/>
            <a:ext cx="2530257" cy="209307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이상감지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5745E7E-A00C-FEC5-6FE9-F2895E30F41D}"/>
              </a:ext>
            </a:extLst>
          </p:cNvPr>
          <p:cNvSpPr/>
          <p:nvPr/>
        </p:nvSpPr>
        <p:spPr>
          <a:xfrm>
            <a:off x="3934180" y="2418889"/>
            <a:ext cx="2665628" cy="2849794"/>
          </a:xfrm>
          <a:prstGeom prst="roundRect">
            <a:avLst>
              <a:gd name="adj" fmla="val 2995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Google Shape;208;p21">
            <a:extLst>
              <a:ext uri="{FF2B5EF4-FFF2-40B4-BE49-F238E27FC236}">
                <a16:creationId xmlns:a16="http://schemas.microsoft.com/office/drawing/2014/main" id="{26EC5A04-0A64-749C-B337-C1F340BBFCFB}"/>
              </a:ext>
            </a:extLst>
          </p:cNvPr>
          <p:cNvSpPr/>
          <p:nvPr/>
        </p:nvSpPr>
        <p:spPr>
          <a:xfrm>
            <a:off x="3842173" y="2319974"/>
            <a:ext cx="173849" cy="189899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28575" dir="264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600" b="1" dirty="0">
                <a:latin typeface="Gothic A1"/>
                <a:ea typeface="Gothic A1"/>
                <a:cs typeface="Gothic A1"/>
                <a:sym typeface="Gothic A1"/>
              </a:rPr>
              <a:t>2</a:t>
            </a:r>
            <a:endParaRPr sz="600" b="1" dirty="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3D9D9DB-67D5-6271-3461-F114E59C64CA}"/>
              </a:ext>
            </a:extLst>
          </p:cNvPr>
          <p:cNvSpPr/>
          <p:nvPr/>
        </p:nvSpPr>
        <p:spPr>
          <a:xfrm>
            <a:off x="5896501" y="810459"/>
            <a:ext cx="662431" cy="14686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600" kern="120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즐겨찾기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EBDCD0FA-BD92-D0CC-1B85-CD227DEDAE25}"/>
              </a:ext>
            </a:extLst>
          </p:cNvPr>
          <p:cNvSpPr/>
          <p:nvPr/>
        </p:nvSpPr>
        <p:spPr>
          <a:xfrm>
            <a:off x="4789388" y="810100"/>
            <a:ext cx="925193" cy="20511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600" kern="120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시뮬레이션</a:t>
            </a:r>
          </a:p>
        </p:txBody>
      </p:sp>
      <p:sp>
        <p:nvSpPr>
          <p:cNvPr id="11" name="Google Shape;208;p21">
            <a:extLst>
              <a:ext uri="{FF2B5EF4-FFF2-40B4-BE49-F238E27FC236}">
                <a16:creationId xmlns:a16="http://schemas.microsoft.com/office/drawing/2014/main" id="{9A08D294-7E5C-38CF-602A-594F8130705E}"/>
              </a:ext>
            </a:extLst>
          </p:cNvPr>
          <p:cNvSpPr/>
          <p:nvPr/>
        </p:nvSpPr>
        <p:spPr>
          <a:xfrm>
            <a:off x="4650631" y="720135"/>
            <a:ext cx="173849" cy="189899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28575" dir="264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600" b="1" dirty="0">
                <a:latin typeface="Gothic A1"/>
                <a:ea typeface="Gothic A1"/>
                <a:cs typeface="Gothic A1"/>
                <a:sym typeface="Gothic A1"/>
              </a:rPr>
              <a:t>1</a:t>
            </a:r>
            <a:endParaRPr sz="600" b="1" dirty="0">
              <a:latin typeface="Gothic A1"/>
              <a:ea typeface="Gothic A1"/>
              <a:cs typeface="Gothic A1"/>
              <a:sym typeface="Gothic A1"/>
            </a:endParaRPr>
          </a:p>
        </p:txBody>
      </p:sp>
    </p:spTree>
    <p:extLst>
      <p:ext uri="{BB962C8B-B14F-4D97-AF65-F5344CB8AC3E}">
        <p14:creationId xmlns:p14="http://schemas.microsoft.com/office/powerpoint/2010/main" val="2714872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975F95F-C5F9-A60F-5ABC-77F80CB5A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6683FD29-7AB8-6305-4957-3059AC4B3443}"/>
              </a:ext>
            </a:extLst>
          </p:cNvPr>
          <p:cNvSpPr txBox="1"/>
          <p:nvPr/>
        </p:nvSpPr>
        <p:spPr>
          <a:xfrm>
            <a:off x="184726" y="192676"/>
            <a:ext cx="3565800" cy="415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othic A1"/>
              </a:rPr>
              <a:t>PoC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Gothic A1"/>
              </a:rPr>
              <a:t> 시나리오</a:t>
            </a:r>
            <a:endParaRPr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Gothic A1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FEC2AA8-DF12-59CD-475A-A99E3008C6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323200"/>
              </p:ext>
            </p:extLst>
          </p:nvPr>
        </p:nvGraphicFramePr>
        <p:xfrm>
          <a:off x="673100" y="769620"/>
          <a:ext cx="7830819" cy="4192746"/>
        </p:xfrm>
        <a:graphic>
          <a:graphicData uri="http://schemas.openxmlformats.org/drawingml/2006/table">
            <a:tbl>
              <a:tblPr>
                <a:tableStyleId>{0AC2C297-DBA1-4DD1-99DE-D7A8A66B7A42}</a:tableStyleId>
              </a:tblPr>
              <a:tblGrid>
                <a:gridCol w="468011">
                  <a:extLst>
                    <a:ext uri="{9D8B030D-6E8A-4147-A177-3AD203B41FA5}">
                      <a16:colId xmlns:a16="http://schemas.microsoft.com/office/drawing/2014/main" val="3000996771"/>
                    </a:ext>
                  </a:extLst>
                </a:gridCol>
                <a:gridCol w="2879226">
                  <a:extLst>
                    <a:ext uri="{9D8B030D-6E8A-4147-A177-3AD203B41FA5}">
                      <a16:colId xmlns:a16="http://schemas.microsoft.com/office/drawing/2014/main" val="3066036925"/>
                    </a:ext>
                  </a:extLst>
                </a:gridCol>
                <a:gridCol w="861501">
                  <a:extLst>
                    <a:ext uri="{9D8B030D-6E8A-4147-A177-3AD203B41FA5}">
                      <a16:colId xmlns:a16="http://schemas.microsoft.com/office/drawing/2014/main" val="2309406331"/>
                    </a:ext>
                  </a:extLst>
                </a:gridCol>
                <a:gridCol w="3622081">
                  <a:extLst>
                    <a:ext uri="{9D8B030D-6E8A-4147-A177-3AD203B41FA5}">
                      <a16:colId xmlns:a16="http://schemas.microsoft.com/office/drawing/2014/main" val="741277233"/>
                    </a:ext>
                  </a:extLst>
                </a:gridCol>
              </a:tblGrid>
              <a:tr h="3714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순서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절차</a:t>
                      </a:r>
                      <a:endParaRPr lang="en-US" altLang="ko-KR" sz="1200" b="1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슬라이드</a:t>
                      </a:r>
                      <a:endParaRPr lang="en-US" altLang="ko-KR" sz="1200" b="1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상황설명</a:t>
                      </a:r>
                      <a:endParaRPr lang="en-US" altLang="ko-KR" sz="1200" b="1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030896"/>
                  </a:ext>
                </a:extLst>
              </a:tr>
              <a:tr h="5101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장비 화면 진입 → ‘시뮬레이션’ 버튼 클릭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슬라이드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운영자가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7KL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장비 페이지에서 해당 버튼을 클릭하여 시뮬레이션 팝업을 열기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9525" marB="0" anchor="ctr"/>
                </a:tc>
                <a:extLst>
                  <a:ext uri="{0D108BD9-81ED-4DB2-BD59-A6C34878D82A}">
                    <a16:rowId xmlns:a16="http://schemas.microsoft.com/office/drawing/2014/main" val="2016534299"/>
                  </a:ext>
                </a:extLst>
              </a:tr>
              <a:tr h="5101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리트로핏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설정 후 시뮬레이션 실행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슬라이드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온도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·pH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등 입력 값을 입력하고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리트로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핏 설정 후 시뮬레이션 시작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화면에는 그래프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시뮬레이션 중 안내가 실시간으로 움직임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9525" marB="0" anchor="ctr"/>
                </a:tc>
                <a:extLst>
                  <a:ext uri="{0D108BD9-81ED-4DB2-BD59-A6C34878D82A}">
                    <a16:rowId xmlns:a16="http://schemas.microsoft.com/office/drawing/2014/main" val="1696470333"/>
                  </a:ext>
                </a:extLst>
              </a:tr>
              <a:tr h="5101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시뮬레이션 중 실패 상황 발생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슬라이드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온도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·pH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값이 기준을 벗어나면서 그래프가 빨간색으로 바뀌고 “이상 발생” 알림 창이 뜸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9525" marB="0" anchor="ctr"/>
                </a:tc>
                <a:extLst>
                  <a:ext uri="{0D108BD9-81ED-4DB2-BD59-A6C34878D82A}">
                    <a16:rowId xmlns:a16="http://schemas.microsoft.com/office/drawing/2014/main" val="2833530799"/>
                  </a:ext>
                </a:extLst>
              </a:tr>
              <a:tr h="68723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실패 알림 표시 →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챗봇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자동 실행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슬라이드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시스템이 자동으로 “이상 감지” 메시지를 띄우고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챗봇이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“문제 원인을 분석 중입니다” 문구와 함께 시작됨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9525" marB="0" anchor="ctr"/>
                </a:tc>
                <a:extLst>
                  <a:ext uri="{0D108BD9-81ED-4DB2-BD59-A6C34878D82A}">
                    <a16:rowId xmlns:a16="http://schemas.microsoft.com/office/drawing/2014/main" val="2169705049"/>
                  </a:ext>
                </a:extLst>
              </a:tr>
              <a:tr h="5834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챗봇이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원인 분석 및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보정 제안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슬라이드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sz="1000" b="0" i="0" u="none" strike="noStrike" cap="none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챗봇이</a:t>
                      </a: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 “</a:t>
                      </a: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pH </a:t>
                      </a:r>
                      <a:r>
                        <a:rPr lang="ko-KR" altLang="en-US" sz="1000" b="0" i="0" u="none" strike="noStrike" cap="none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보정액</a:t>
                      </a: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 주입 지연으로 추정됩니다</a:t>
                      </a: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. </a:t>
                      </a: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세트포인트 </a:t>
                      </a: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5.3</a:t>
                      </a:r>
                      <a:r>
                        <a:rPr lang="ko-KR" altLang="en-US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으로 조정 권고” 메시지를 출력</a:t>
                      </a:r>
                      <a:r>
                        <a:rPr lang="en-US" altLang="ko-KR" sz="1000" b="0" i="0" u="none" strike="noStrike" cap="non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Arial"/>
                          <a:sym typeface="Arial"/>
                        </a:rPr>
                        <a:t>.</a:t>
                      </a:r>
                      <a:endParaRPr lang="ko-KR" altLang="en-US" sz="1000" b="0" i="0" u="none" strike="noStrike" cap="none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/>
                        <a:sym typeface="Arial"/>
                      </a:endParaRPr>
                    </a:p>
                  </a:txBody>
                  <a:tcPr marL="108000" marR="108000" anchor="ctr"/>
                </a:tc>
                <a:extLst>
                  <a:ext uri="{0D108BD9-81ED-4DB2-BD59-A6C34878D82A}">
                    <a16:rowId xmlns:a16="http://schemas.microsoft.com/office/drawing/2014/main" val="3157115344"/>
                  </a:ext>
                </a:extLst>
              </a:tr>
              <a:tr h="5101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u="none" strike="noStrike" dirty="0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재시뮬레이션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’ 실행 후 정상 완료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슬라이드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운영자가 ‘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보정값으로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재시작’ 버튼 클릭 → 그래프가 안정화되고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시뮬레이션 완료” 문구 표시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9525" marB="0" anchor="ctr"/>
                </a:tc>
                <a:extLst>
                  <a:ext uri="{0D108BD9-81ED-4DB2-BD59-A6C34878D82A}">
                    <a16:rowId xmlns:a16="http://schemas.microsoft.com/office/drawing/2014/main" val="3643520174"/>
                  </a:ext>
                </a:extLst>
              </a:tr>
              <a:tr h="5101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성공 결과 화면 표시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슬라이드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KPI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카드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온도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, pH 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등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가 정상 값으로 바뀌고 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챗봇이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성공한 </a:t>
                      </a:r>
                      <a:r>
                        <a:rPr lang="ko-KR" altLang="en-US" sz="1000" dirty="0" err="1">
                          <a:latin typeface="+mn-ea"/>
                          <a:ea typeface="+mn-ea"/>
                        </a:rPr>
                        <a:t>리트로핏</a:t>
                      </a:r>
                      <a:r>
                        <a:rPr lang="ko-KR" altLang="en-US" sz="1000" dirty="0">
                          <a:latin typeface="+mn-ea"/>
                          <a:ea typeface="+mn-ea"/>
                        </a:rPr>
                        <a:t> 저장 버튼을 생성</a:t>
                      </a:r>
                      <a:r>
                        <a:rPr lang="en-US" altLang="ko-KR" sz="10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8000" marR="108000" marT="9525" marB="0" anchor="ctr"/>
                </a:tc>
                <a:extLst>
                  <a:ext uri="{0D108BD9-81ED-4DB2-BD59-A6C34878D82A}">
                    <a16:rowId xmlns:a16="http://schemas.microsoft.com/office/drawing/2014/main" val="578116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8605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>
          <a:extLst>
            <a:ext uri="{FF2B5EF4-FFF2-40B4-BE49-F238E27FC236}">
              <a16:creationId xmlns:a16="http://schemas.microsoft.com/office/drawing/2014/main" id="{3435F2E7-35D2-762E-5B02-D5E775260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1">
            <a:extLst>
              <a:ext uri="{FF2B5EF4-FFF2-40B4-BE49-F238E27FC236}">
                <a16:creationId xmlns:a16="http://schemas.microsoft.com/office/drawing/2014/main" id="{5C953E70-DF50-90D6-0D77-67BF7736AB1D}"/>
              </a:ext>
            </a:extLst>
          </p:cNvPr>
          <p:cNvSpPr txBox="1"/>
          <p:nvPr/>
        </p:nvSpPr>
        <p:spPr>
          <a:xfrm>
            <a:off x="797425" y="193050"/>
            <a:ext cx="1551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r>
              <a:rPr lang="ko-KR" altLang="en-US" sz="700" dirty="0">
                <a:solidFill>
                  <a:schemeClr val="dk1"/>
                </a:solidFill>
              </a:rPr>
              <a:t>시뮬레이션</a:t>
            </a:r>
            <a:endParaRPr sz="700" dirty="0">
              <a:solidFill>
                <a:schemeClr val="dk1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397" name="Google Shape;397;p31">
            <a:extLst>
              <a:ext uri="{FF2B5EF4-FFF2-40B4-BE49-F238E27FC236}">
                <a16:creationId xmlns:a16="http://schemas.microsoft.com/office/drawing/2014/main" id="{8BF29950-65AF-9908-30A1-48F99FF94DD8}"/>
              </a:ext>
            </a:extLst>
          </p:cNvPr>
          <p:cNvSpPr txBox="1"/>
          <p:nvPr/>
        </p:nvSpPr>
        <p:spPr>
          <a:xfrm>
            <a:off x="5848375" y="193050"/>
            <a:ext cx="1373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pPr>
              <a:buSzPts val="800"/>
            </a:pPr>
            <a:r>
              <a:rPr lang="en-US" altLang="ko-KR" sz="700" dirty="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-</a:t>
            </a:r>
            <a:endParaRPr sz="700" dirty="0"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400" name="Google Shape;400;p31">
            <a:extLst>
              <a:ext uri="{FF2B5EF4-FFF2-40B4-BE49-F238E27FC236}">
                <a16:creationId xmlns:a16="http://schemas.microsoft.com/office/drawing/2014/main" id="{64B87C62-41F5-371C-501B-BDCBA0842328}"/>
              </a:ext>
            </a:extLst>
          </p:cNvPr>
          <p:cNvSpPr txBox="1"/>
          <p:nvPr/>
        </p:nvSpPr>
        <p:spPr>
          <a:xfrm>
            <a:off x="7871326" y="193050"/>
            <a:ext cx="1134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altLang="ko" sz="700" dirty="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2025.0</a:t>
            </a:r>
            <a:r>
              <a:rPr lang="en-US" altLang="ko-KR" sz="700" dirty="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9.24</a:t>
            </a:r>
            <a:endParaRPr sz="700" dirty="0">
              <a:solidFill>
                <a:schemeClr val="dk1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0330274-5E09-CDDD-F0C1-0587C54B0F9D}"/>
              </a:ext>
            </a:extLst>
          </p:cNvPr>
          <p:cNvGraphicFramePr>
            <a:graphicFrameLocks noGrp="1"/>
          </p:cNvGraphicFramePr>
          <p:nvPr/>
        </p:nvGraphicFramePr>
        <p:xfrm>
          <a:off x="6777710" y="510828"/>
          <a:ext cx="2228517" cy="1984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55">
                  <a:extLst>
                    <a:ext uri="{9D8B030D-6E8A-4147-A177-3AD203B41FA5}">
                      <a16:colId xmlns:a16="http://schemas.microsoft.com/office/drawing/2014/main" val="1649533771"/>
                    </a:ext>
                  </a:extLst>
                </a:gridCol>
                <a:gridCol w="1935362">
                  <a:extLst>
                    <a:ext uri="{9D8B030D-6E8A-4147-A177-3AD203B41FA5}">
                      <a16:colId xmlns:a16="http://schemas.microsoft.com/office/drawing/2014/main" val="1453130143"/>
                    </a:ext>
                  </a:extLst>
                </a:gridCol>
              </a:tblGrid>
              <a:tr h="181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u="none" strike="noStrike" cap="non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화면 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977616065"/>
                  </a:ext>
                </a:extLst>
              </a:tr>
              <a:tr h="181728">
                <a:tc gridSpan="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687718"/>
                  </a:ext>
                </a:extLst>
              </a:tr>
              <a:tr h="181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7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41008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 Medium"/>
                          <a:sym typeface="Gothic A1 Medium"/>
                        </a:rPr>
                        <a:t>1</a:t>
                      </a:r>
                      <a:endParaRPr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600" b="1" i="0" u="none" strike="noStrike" cap="none" dirty="0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시뮬레이션 시작 버튼</a:t>
                      </a:r>
                    </a:p>
                    <a:p>
                      <a:pPr marL="133200" lvl="0" indent="-84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600"/>
                        <a:buFont typeface="Gothic A1"/>
                        <a:buChar char="-"/>
                      </a:pP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입력된 데이터를 토대로 시뮬레이션 진행</a:t>
                      </a: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43934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 Medium"/>
                          <a:sym typeface="Gothic A1 Medium"/>
                        </a:rPr>
                        <a:t>2</a:t>
                      </a:r>
                      <a:endParaRPr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600" b="1" i="0" u="none" strike="noStrike" cap="none" dirty="0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닫기 버튼</a:t>
                      </a:r>
                    </a:p>
                    <a:p>
                      <a:pPr marL="133200" lvl="0" indent="-84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600"/>
                        <a:buFont typeface="Gothic A1"/>
                        <a:buChar char="-"/>
                      </a:pP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팝업 닫기</a:t>
                      </a: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9426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6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+mn-ea"/>
                        <a:cs typeface="Gothic A1"/>
                        <a:sym typeface="Gothic A1"/>
                      </a:endParaRP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503632"/>
                  </a:ext>
                </a:extLst>
              </a:tr>
              <a:tr h="181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FFFF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필요사항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421113"/>
                  </a:ext>
                </a:extLst>
              </a:tr>
              <a:tr h="23872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각 수치 직접 입력</a:t>
                      </a: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"/>
                        <a:sym typeface="Gothic A1"/>
                      </a:endParaRP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942893"/>
                  </a:ext>
                </a:extLst>
              </a:tr>
            </a:tbl>
          </a:graphicData>
        </a:graphic>
      </p:graphicFrame>
      <p:sp>
        <p:nvSpPr>
          <p:cNvPr id="40" name="직사각형 39">
            <a:extLst>
              <a:ext uri="{FF2B5EF4-FFF2-40B4-BE49-F238E27FC236}">
                <a16:creationId xmlns:a16="http://schemas.microsoft.com/office/drawing/2014/main" id="{DA3E55AE-3320-2D4C-262B-3B64B7421F2B}"/>
              </a:ext>
            </a:extLst>
          </p:cNvPr>
          <p:cNvSpPr/>
          <p:nvPr/>
        </p:nvSpPr>
        <p:spPr>
          <a:xfrm>
            <a:off x="195385" y="534809"/>
            <a:ext cx="6474216" cy="4776229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700" i="1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4" name="직사각형 393">
            <a:extLst>
              <a:ext uri="{FF2B5EF4-FFF2-40B4-BE49-F238E27FC236}">
                <a16:creationId xmlns:a16="http://schemas.microsoft.com/office/drawing/2014/main" id="{4F2C72B9-CE62-304F-64B4-4A5C75FC8159}"/>
              </a:ext>
            </a:extLst>
          </p:cNvPr>
          <p:cNvSpPr/>
          <p:nvPr/>
        </p:nvSpPr>
        <p:spPr>
          <a:xfrm>
            <a:off x="151661" y="510828"/>
            <a:ext cx="6517939" cy="20930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7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endParaRPr lang="ko-KR" altLang="en-US" sz="7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828B9BB-C732-E598-E6AA-87E9F490F635}"/>
              </a:ext>
            </a:extLst>
          </p:cNvPr>
          <p:cNvSpPr/>
          <p:nvPr/>
        </p:nvSpPr>
        <p:spPr>
          <a:xfrm>
            <a:off x="384628" y="878114"/>
            <a:ext cx="6204857" cy="4326058"/>
          </a:xfrm>
          <a:prstGeom prst="roundRect">
            <a:avLst>
              <a:gd name="adj" fmla="val 1011"/>
            </a:avLst>
          </a:prstGeom>
          <a:solidFill>
            <a:schemeClr val="bg1"/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C5EEB5A-D342-F9F9-C1AE-F8E9A4C8131B}"/>
              </a:ext>
            </a:extLst>
          </p:cNvPr>
          <p:cNvSpPr/>
          <p:nvPr/>
        </p:nvSpPr>
        <p:spPr>
          <a:xfrm>
            <a:off x="2496457" y="997334"/>
            <a:ext cx="1872072" cy="199975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7KL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발효시스템 시뮬레이션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47A8B33-911F-4298-3E04-636CDAD20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257883"/>
              </p:ext>
            </p:extLst>
          </p:nvPr>
        </p:nvGraphicFramePr>
        <p:xfrm>
          <a:off x="653606" y="1364220"/>
          <a:ext cx="5729001" cy="3223200"/>
        </p:xfrm>
        <a:graphic>
          <a:graphicData uri="http://schemas.openxmlformats.org/drawingml/2006/table">
            <a:tbl>
              <a:tblPr>
                <a:tableStyleId>{0AC2C297-DBA1-4DD1-99DE-D7A8A66B7A42}</a:tableStyleId>
              </a:tblPr>
              <a:tblGrid>
                <a:gridCol w="961221">
                  <a:extLst>
                    <a:ext uri="{9D8B030D-6E8A-4147-A177-3AD203B41FA5}">
                      <a16:colId xmlns:a16="http://schemas.microsoft.com/office/drawing/2014/main" val="757650759"/>
                    </a:ext>
                  </a:extLst>
                </a:gridCol>
                <a:gridCol w="646435">
                  <a:extLst>
                    <a:ext uri="{9D8B030D-6E8A-4147-A177-3AD203B41FA5}">
                      <a16:colId xmlns:a16="http://schemas.microsoft.com/office/drawing/2014/main" val="3436574305"/>
                    </a:ext>
                  </a:extLst>
                </a:gridCol>
                <a:gridCol w="32567">
                  <a:extLst>
                    <a:ext uri="{9D8B030D-6E8A-4147-A177-3AD203B41FA5}">
                      <a16:colId xmlns:a16="http://schemas.microsoft.com/office/drawing/2014/main" val="2732250179"/>
                    </a:ext>
                  </a:extLst>
                </a:gridCol>
                <a:gridCol w="727943">
                  <a:extLst>
                    <a:ext uri="{9D8B030D-6E8A-4147-A177-3AD203B41FA5}">
                      <a16:colId xmlns:a16="http://schemas.microsoft.com/office/drawing/2014/main" val="3920047235"/>
                    </a:ext>
                  </a:extLst>
                </a:gridCol>
                <a:gridCol w="809450">
                  <a:extLst>
                    <a:ext uri="{9D8B030D-6E8A-4147-A177-3AD203B41FA5}">
                      <a16:colId xmlns:a16="http://schemas.microsoft.com/office/drawing/2014/main" val="3562253053"/>
                    </a:ext>
                  </a:extLst>
                </a:gridCol>
                <a:gridCol w="691406">
                  <a:extLst>
                    <a:ext uri="{9D8B030D-6E8A-4147-A177-3AD203B41FA5}">
                      <a16:colId xmlns:a16="http://schemas.microsoft.com/office/drawing/2014/main" val="230696561"/>
                    </a:ext>
                  </a:extLst>
                </a:gridCol>
                <a:gridCol w="809450">
                  <a:extLst>
                    <a:ext uri="{9D8B030D-6E8A-4147-A177-3AD203B41FA5}">
                      <a16:colId xmlns:a16="http://schemas.microsoft.com/office/drawing/2014/main" val="2884640371"/>
                    </a:ext>
                  </a:extLst>
                </a:gridCol>
                <a:gridCol w="119896">
                  <a:extLst>
                    <a:ext uri="{9D8B030D-6E8A-4147-A177-3AD203B41FA5}">
                      <a16:colId xmlns:a16="http://schemas.microsoft.com/office/drawing/2014/main" val="3193155581"/>
                    </a:ext>
                  </a:extLst>
                </a:gridCol>
                <a:gridCol w="369146">
                  <a:extLst>
                    <a:ext uri="{9D8B030D-6E8A-4147-A177-3AD203B41FA5}">
                      <a16:colId xmlns:a16="http://schemas.microsoft.com/office/drawing/2014/main" val="3329435999"/>
                    </a:ext>
                  </a:extLst>
                </a:gridCol>
                <a:gridCol w="118800">
                  <a:extLst>
                    <a:ext uri="{9D8B030D-6E8A-4147-A177-3AD203B41FA5}">
                      <a16:colId xmlns:a16="http://schemas.microsoft.com/office/drawing/2014/main" val="2991319323"/>
                    </a:ext>
                  </a:extLst>
                </a:gridCol>
                <a:gridCol w="442687">
                  <a:extLst>
                    <a:ext uri="{9D8B030D-6E8A-4147-A177-3AD203B41FA5}">
                      <a16:colId xmlns:a16="http://schemas.microsoft.com/office/drawing/2014/main" val="3224767509"/>
                    </a:ext>
                  </a:extLst>
                </a:gridCol>
              </a:tblGrid>
              <a:tr h="189600">
                <a:tc gridSpan="1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1. </a:t>
                      </a:r>
                      <a:r>
                        <a:rPr lang="ko-KR" altLang="en-US" sz="700" b="1" u="none" strike="noStrike" dirty="0">
                          <a:effectLst/>
                        </a:rPr>
                        <a:t>원료상태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664023"/>
                  </a:ext>
                </a:extLst>
              </a:tr>
              <a:tr h="189600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배지명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상수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>
                          <a:effectLst/>
                        </a:rPr>
                        <a:t>액체배지</a:t>
                      </a:r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>
                          <a:effectLst/>
                        </a:rPr>
                        <a:t>직전 공명관 진행일</a:t>
                      </a:r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999139"/>
                  </a:ext>
                </a:extLst>
              </a:tr>
              <a:tr h="189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분말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별도살균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>
                          <a:effectLst/>
                        </a:rPr>
                        <a:t>입고일자</a:t>
                      </a:r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999427"/>
                  </a:ext>
                </a:extLst>
              </a:tr>
              <a:tr h="189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추출액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204539"/>
                  </a:ext>
                </a:extLst>
              </a:tr>
              <a:tr h="189600">
                <a:tc gridSpan="1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2. </a:t>
                      </a:r>
                      <a:r>
                        <a:rPr lang="ko-KR" altLang="en-US" sz="700" b="1" u="none" strike="noStrike" dirty="0">
                          <a:effectLst/>
                        </a:rPr>
                        <a:t>작업내용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078116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배양일자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시작일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종료일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114734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균주명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배양 </a:t>
                      </a:r>
                      <a:r>
                        <a:rPr lang="en-US" sz="700" b="1" u="none" strike="noStrike" dirty="0">
                          <a:effectLst/>
                        </a:rPr>
                        <a:t>Volume(ℓ)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981284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1" u="none" strike="noStrike" dirty="0">
                          <a:effectLst/>
                        </a:rPr>
                        <a:t>배지투입시각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탱크내부압력</a:t>
                      </a: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(PS)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852272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배지멸균온도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배지멸균시간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배지멸균종료시각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360340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거품 발생여부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안티폼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TANK </a:t>
                      </a:r>
                      <a:r>
                        <a:rPr lang="ko-KR" altLang="en-US" sz="700" b="1" u="none" strike="noStrike" dirty="0">
                          <a:effectLst/>
                        </a:rPr>
                        <a:t>투입 </a:t>
                      </a:r>
                      <a:r>
                        <a:rPr lang="ko-KR" altLang="en-US" sz="700" b="1" u="none" strike="noStrike" dirty="0" err="1">
                          <a:effectLst/>
                        </a:rPr>
                        <a:t>안티폼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034721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>
                          <a:effectLst/>
                        </a:rPr>
                        <a:t>Air Volume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v/v/m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  <a:sym typeface="Arial"/>
                        </a:rPr>
                        <a:t>~        l/m</a:t>
                      </a:r>
                    </a:p>
                  </a:txBody>
                  <a:tcPr marL="7167" marR="36000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보정 </a:t>
                      </a:r>
                      <a:r>
                        <a:rPr lang="en-US" sz="700" b="1" u="none" strike="noStrike" dirty="0">
                          <a:effectLst/>
                        </a:rPr>
                        <a:t>TANK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접종일 </a:t>
                      </a:r>
                      <a:r>
                        <a:rPr lang="en-US" altLang="ko-KR" sz="700" b="1" u="none" strike="noStrike" dirty="0">
                          <a:effectLst/>
                        </a:rPr>
                        <a:t>18</a:t>
                      </a:r>
                      <a:r>
                        <a:rPr lang="ko-KR" altLang="en-US" sz="700" b="1" u="none" strike="noStrike" dirty="0">
                          <a:effectLst/>
                        </a:rPr>
                        <a:t>시 </a:t>
                      </a:r>
                      <a:r>
                        <a:rPr lang="en-US" sz="700" b="1" u="none" strike="noStrike" dirty="0">
                          <a:effectLst/>
                        </a:rPr>
                        <a:t>pH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48449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>
                          <a:effectLst/>
                        </a:rPr>
                        <a:t>배양 </a:t>
                      </a:r>
                      <a:r>
                        <a:rPr lang="en-US" sz="700" b="1" u="none" strike="noStrike">
                          <a:effectLst/>
                        </a:rPr>
                        <a:t>RPM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            rpm   </a:t>
                      </a:r>
                    </a:p>
                  </a:txBody>
                  <a:tcPr marL="36000" marR="72000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배지 투입 </a:t>
                      </a:r>
                      <a:r>
                        <a:rPr lang="en-US" sz="700" b="1" u="none" strike="noStrike" dirty="0">
                          <a:effectLst/>
                        </a:rPr>
                        <a:t>pH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익일 </a:t>
                      </a:r>
                      <a:r>
                        <a:rPr lang="en-US" altLang="ko-KR" sz="700" b="1" u="none" strike="noStrike" dirty="0">
                          <a:effectLst/>
                        </a:rPr>
                        <a:t>09</a:t>
                      </a:r>
                      <a:r>
                        <a:rPr lang="ko-KR" altLang="en-US" sz="700" b="1" u="none" strike="noStrike" dirty="0">
                          <a:effectLst/>
                        </a:rPr>
                        <a:t>시 </a:t>
                      </a:r>
                      <a:r>
                        <a:rPr lang="en-US" sz="700" b="1" u="none" strike="noStrike" dirty="0">
                          <a:effectLst/>
                        </a:rPr>
                        <a:t>pH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546464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배양온도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               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˚</a:t>
                      </a: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7167" marR="72000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배지 냉각 </a:t>
                      </a:r>
                      <a:r>
                        <a:rPr lang="en-US" sz="700" b="1" u="none" strike="noStrike" dirty="0">
                          <a:effectLst/>
                        </a:rPr>
                        <a:t>pH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보정 </a:t>
                      </a:r>
                      <a:r>
                        <a:rPr lang="en-US" sz="700" b="1" u="none" strike="noStrike" dirty="0">
                          <a:effectLst/>
                        </a:rPr>
                        <a:t>pH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279549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질소포징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배지 접종 </a:t>
                      </a:r>
                      <a:r>
                        <a:rPr lang="en-US" sz="700" b="1" u="none" strike="noStrike" dirty="0">
                          <a:effectLst/>
                        </a:rPr>
                        <a:t>pH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pH </a:t>
                      </a:r>
                      <a:r>
                        <a:rPr lang="ko-KR" altLang="en-US" sz="700" b="1" u="none" strike="noStrike" dirty="0">
                          <a:effectLst/>
                        </a:rPr>
                        <a:t>보정 인터벌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211895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접종시각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DO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4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682646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야간 모니터링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접종일 </a:t>
                      </a:r>
                      <a:r>
                        <a:rPr lang="en-US" altLang="ko-KR" sz="700" b="1" u="none" strike="noStrike" dirty="0">
                          <a:effectLst/>
                        </a:rPr>
                        <a:t>18</a:t>
                      </a:r>
                      <a:r>
                        <a:rPr lang="ko-KR" altLang="en-US" sz="700" b="1" u="none" strike="noStrike" dirty="0">
                          <a:effectLst/>
                        </a:rPr>
                        <a:t>시 </a:t>
                      </a:r>
                      <a:r>
                        <a:rPr lang="en-US" sz="700" b="1" u="none" strike="noStrike" dirty="0">
                          <a:effectLst/>
                        </a:rPr>
                        <a:t>DO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추가작업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>
                          <a:effectLst/>
                        </a:rPr>
                        <a:t>가열</a:t>
                      </a:r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593669"/>
                  </a:ext>
                </a:extLst>
              </a:tr>
              <a:tr h="189600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>
                          <a:effectLst/>
                        </a:rPr>
                        <a:t>익일 </a:t>
                      </a:r>
                      <a:r>
                        <a:rPr lang="en-US" altLang="ko-KR" sz="700" b="1" u="none" strike="noStrike">
                          <a:effectLst/>
                        </a:rPr>
                        <a:t>09</a:t>
                      </a:r>
                      <a:r>
                        <a:rPr lang="ko-KR" altLang="en-US" sz="700" b="1" u="none" strike="noStrike">
                          <a:effectLst/>
                        </a:rPr>
                        <a:t>시 </a:t>
                      </a:r>
                      <a:r>
                        <a:rPr lang="en-US" sz="700" b="1" u="none" strike="noStrike">
                          <a:effectLst/>
                        </a:rPr>
                        <a:t>DO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>
                          <a:effectLst/>
                        </a:rPr>
                        <a:t>냉각</a:t>
                      </a:r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562881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4F1CB4D3-6633-708B-F764-F1BC6F8B02F5}"/>
              </a:ext>
            </a:extLst>
          </p:cNvPr>
          <p:cNvGrpSpPr/>
          <p:nvPr/>
        </p:nvGrpSpPr>
        <p:grpSpPr>
          <a:xfrm>
            <a:off x="2558736" y="2326363"/>
            <a:ext cx="1074779" cy="146860"/>
            <a:chOff x="7333936" y="3262534"/>
            <a:chExt cx="1074779" cy="14686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A1E69D1-09A2-BD3C-6379-3542E1F6D266}"/>
                </a:ext>
              </a:extLst>
            </p:cNvPr>
            <p:cNvSpPr txBox="1"/>
            <p:nvPr/>
          </p:nvSpPr>
          <p:spPr>
            <a:xfrm>
              <a:off x="7333936" y="3262534"/>
              <a:ext cx="107477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defTabSz="685772" latinLnBrk="1">
                <a:buClrTx/>
                <a:defRPr/>
              </a:pP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연도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월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일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시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분</a:t>
              </a:r>
            </a:p>
          </p:txBody>
        </p:sp>
        <p:pic>
          <p:nvPicPr>
            <p:cNvPr id="15" name="그래픽 14" descr="플립 달력">
              <a:extLst>
                <a:ext uri="{FF2B5EF4-FFF2-40B4-BE49-F238E27FC236}">
                  <a16:creationId xmlns:a16="http://schemas.microsoft.com/office/drawing/2014/main" id="{BF9484C0-42FB-0058-5371-B2E74EC84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40273" y="3272259"/>
              <a:ext cx="123564" cy="123564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C1BAA9F4-1E5E-1370-079D-843270EC6D03}"/>
              </a:ext>
            </a:extLst>
          </p:cNvPr>
          <p:cNvGrpSpPr/>
          <p:nvPr/>
        </p:nvGrpSpPr>
        <p:grpSpPr>
          <a:xfrm>
            <a:off x="5031371" y="2326363"/>
            <a:ext cx="1074779" cy="146860"/>
            <a:chOff x="7333936" y="3262534"/>
            <a:chExt cx="1074779" cy="14686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2ADABCA-B62D-63DA-7482-7CEA4CAE3A0C}"/>
                </a:ext>
              </a:extLst>
            </p:cNvPr>
            <p:cNvSpPr txBox="1"/>
            <p:nvPr/>
          </p:nvSpPr>
          <p:spPr>
            <a:xfrm>
              <a:off x="7333936" y="3262534"/>
              <a:ext cx="107477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defTabSz="685772" latinLnBrk="1">
                <a:buClrTx/>
                <a:defRPr/>
              </a:pP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연도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월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일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시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분</a:t>
              </a:r>
            </a:p>
          </p:txBody>
        </p:sp>
        <p:pic>
          <p:nvPicPr>
            <p:cNvPr id="19" name="그래픽 18" descr="플립 달력">
              <a:extLst>
                <a:ext uri="{FF2B5EF4-FFF2-40B4-BE49-F238E27FC236}">
                  <a16:creationId xmlns:a16="http://schemas.microsoft.com/office/drawing/2014/main" id="{689D62CD-8FC4-6364-F66D-F2EF6D6D7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40273" y="3272259"/>
              <a:ext cx="123564" cy="123564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14D80BC-69A5-6B34-457A-C44449E48F9D}"/>
              </a:ext>
            </a:extLst>
          </p:cNvPr>
          <p:cNvGrpSpPr/>
          <p:nvPr/>
        </p:nvGrpSpPr>
        <p:grpSpPr>
          <a:xfrm>
            <a:off x="5391287" y="1574575"/>
            <a:ext cx="939663" cy="146860"/>
            <a:chOff x="7333936" y="3262534"/>
            <a:chExt cx="1074779" cy="14686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1952DE8-CD29-CEFB-A4D4-8441F7E953EF}"/>
                </a:ext>
              </a:extLst>
            </p:cNvPr>
            <p:cNvSpPr txBox="1"/>
            <p:nvPr/>
          </p:nvSpPr>
          <p:spPr>
            <a:xfrm>
              <a:off x="7333936" y="3262534"/>
              <a:ext cx="107477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defTabSz="685772" latinLnBrk="1">
                <a:buClrTx/>
                <a:defRPr/>
              </a:pP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연도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월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일</a:t>
              </a:r>
            </a:p>
          </p:txBody>
        </p:sp>
        <p:pic>
          <p:nvPicPr>
            <p:cNvPr id="22" name="그래픽 21" descr="플립 달력">
              <a:extLst>
                <a:ext uri="{FF2B5EF4-FFF2-40B4-BE49-F238E27FC236}">
                  <a16:creationId xmlns:a16="http://schemas.microsoft.com/office/drawing/2014/main" id="{EAA982D7-01C1-4721-462A-3327066EF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40273" y="3272259"/>
              <a:ext cx="123564" cy="123564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37E7BC9-5883-1AAD-6535-1307711B9330}"/>
              </a:ext>
            </a:extLst>
          </p:cNvPr>
          <p:cNvGrpSpPr/>
          <p:nvPr/>
        </p:nvGrpSpPr>
        <p:grpSpPr>
          <a:xfrm>
            <a:off x="5394462" y="1850800"/>
            <a:ext cx="939663" cy="146860"/>
            <a:chOff x="7333936" y="3262534"/>
            <a:chExt cx="1074779" cy="14686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82442ED-2D1E-DC71-4871-8AAA0517A67D}"/>
                </a:ext>
              </a:extLst>
            </p:cNvPr>
            <p:cNvSpPr txBox="1"/>
            <p:nvPr/>
          </p:nvSpPr>
          <p:spPr>
            <a:xfrm>
              <a:off x="7333936" y="3262534"/>
              <a:ext cx="107477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defTabSz="685772" latinLnBrk="1">
                <a:buClrTx/>
                <a:defRPr/>
              </a:pP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연도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월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일</a:t>
              </a:r>
            </a:p>
          </p:txBody>
        </p:sp>
        <p:pic>
          <p:nvPicPr>
            <p:cNvPr id="25" name="그래픽 24" descr="플립 달력">
              <a:extLst>
                <a:ext uri="{FF2B5EF4-FFF2-40B4-BE49-F238E27FC236}">
                  <a16:creationId xmlns:a16="http://schemas.microsoft.com/office/drawing/2014/main" id="{AD8755D7-4FCA-BCE1-B006-9AFB21EC2C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40273" y="3272259"/>
              <a:ext cx="123564" cy="123564"/>
            </a:xfrm>
            <a:prstGeom prst="rect">
              <a:avLst/>
            </a:prstGeom>
          </p:spPr>
        </p:pic>
      </p:grp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687EFA7B-4572-4871-A45D-3B9E351079CC}"/>
              </a:ext>
            </a:extLst>
          </p:cNvPr>
          <p:cNvSpPr/>
          <p:nvPr/>
        </p:nvSpPr>
        <p:spPr>
          <a:xfrm>
            <a:off x="5397659" y="4726522"/>
            <a:ext cx="988104" cy="276225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800" b="1" kern="1200" dirty="0">
                <a:solidFill>
                  <a:schemeClr val="tx1"/>
                </a:solidFill>
                <a:latin typeface="+mn-ea"/>
              </a:rPr>
              <a:t>시뮬레이션 시작</a:t>
            </a:r>
            <a:endParaRPr lang="en-US" altLang="ko-KR" sz="800" b="1" kern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689A285-AD8E-DCBB-DAA0-B98A06FDEF0E}"/>
              </a:ext>
            </a:extLst>
          </p:cNvPr>
          <p:cNvSpPr/>
          <p:nvPr/>
        </p:nvSpPr>
        <p:spPr>
          <a:xfrm>
            <a:off x="4260326" y="4726522"/>
            <a:ext cx="950025" cy="27622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800" b="1" kern="1200" dirty="0">
                <a:solidFill>
                  <a:schemeClr val="tx1"/>
                </a:solidFill>
                <a:latin typeface="+mn-ea"/>
              </a:rPr>
              <a:t>닫기</a:t>
            </a:r>
            <a:endParaRPr lang="en-US" altLang="ko-KR" sz="800" b="1" kern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Google Shape;208;p21">
            <a:extLst>
              <a:ext uri="{FF2B5EF4-FFF2-40B4-BE49-F238E27FC236}">
                <a16:creationId xmlns:a16="http://schemas.microsoft.com/office/drawing/2014/main" id="{9E2BD4A5-B91B-3321-1A7A-2711751A26B8}"/>
              </a:ext>
            </a:extLst>
          </p:cNvPr>
          <p:cNvSpPr/>
          <p:nvPr/>
        </p:nvSpPr>
        <p:spPr>
          <a:xfrm>
            <a:off x="4174888" y="4629446"/>
            <a:ext cx="173849" cy="189899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28575" dir="264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600" b="1" dirty="0">
                <a:latin typeface="Gothic A1"/>
                <a:ea typeface="Gothic A1"/>
                <a:cs typeface="Gothic A1"/>
                <a:sym typeface="Gothic A1"/>
              </a:rPr>
              <a:t>2</a:t>
            </a:r>
            <a:endParaRPr sz="600" b="1" dirty="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3" name="Google Shape;208;p21">
            <a:extLst>
              <a:ext uri="{FF2B5EF4-FFF2-40B4-BE49-F238E27FC236}">
                <a16:creationId xmlns:a16="http://schemas.microsoft.com/office/drawing/2014/main" id="{82BAD206-433D-EACE-6BD2-E0CC3CDF8294}"/>
              </a:ext>
            </a:extLst>
          </p:cNvPr>
          <p:cNvSpPr/>
          <p:nvPr/>
        </p:nvSpPr>
        <p:spPr>
          <a:xfrm>
            <a:off x="5322088" y="4646987"/>
            <a:ext cx="173849" cy="189899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28575" dir="264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600" b="1" dirty="0">
                <a:latin typeface="Gothic A1"/>
                <a:ea typeface="Gothic A1"/>
                <a:cs typeface="Gothic A1"/>
                <a:sym typeface="Gothic A1"/>
              </a:rPr>
              <a:t>1</a:t>
            </a:r>
            <a:endParaRPr sz="600" b="1" dirty="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6D85B5-FBF9-A66D-4B0A-D2C05F89CC65}"/>
              </a:ext>
            </a:extLst>
          </p:cNvPr>
          <p:cNvSpPr txBox="1"/>
          <p:nvPr/>
        </p:nvSpPr>
        <p:spPr>
          <a:xfrm>
            <a:off x="2305050" y="3283496"/>
            <a:ext cx="205709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endParaRPr lang="ko-KR" altLang="en-US" sz="600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6AB1B5-06E6-7C65-B8F6-E96C9898B353}"/>
              </a:ext>
            </a:extLst>
          </p:cNvPr>
          <p:cNvSpPr txBox="1"/>
          <p:nvPr/>
        </p:nvSpPr>
        <p:spPr>
          <a:xfrm>
            <a:off x="2619376" y="3283496"/>
            <a:ext cx="205710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endParaRPr lang="ko-KR" altLang="en-US" sz="600" kern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88ACE4-E484-4907-EF81-84F1A5C9A452}"/>
              </a:ext>
            </a:extLst>
          </p:cNvPr>
          <p:cNvSpPr txBox="1"/>
          <p:nvPr/>
        </p:nvSpPr>
        <p:spPr>
          <a:xfrm>
            <a:off x="1957776" y="3468892"/>
            <a:ext cx="282982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endParaRPr lang="ko-KR" altLang="en-US" sz="600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A05B1A-5C0B-C740-D1AA-48B53835D5D0}"/>
              </a:ext>
            </a:extLst>
          </p:cNvPr>
          <p:cNvSpPr txBox="1"/>
          <p:nvPr/>
        </p:nvSpPr>
        <p:spPr>
          <a:xfrm>
            <a:off x="2443060" y="3468892"/>
            <a:ext cx="282982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endParaRPr lang="ko-KR" altLang="en-US" sz="600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24413C-67B2-22A1-BA2F-A4C10A607FB1}"/>
              </a:ext>
            </a:extLst>
          </p:cNvPr>
          <p:cNvSpPr txBox="1"/>
          <p:nvPr/>
        </p:nvSpPr>
        <p:spPr>
          <a:xfrm>
            <a:off x="1957776" y="3660731"/>
            <a:ext cx="282982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endParaRPr lang="ko-KR" altLang="en-US" sz="600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EE3636-2A09-F26D-A499-E4EC03E10021}"/>
              </a:ext>
            </a:extLst>
          </p:cNvPr>
          <p:cNvSpPr txBox="1"/>
          <p:nvPr/>
        </p:nvSpPr>
        <p:spPr>
          <a:xfrm>
            <a:off x="2443060" y="3660731"/>
            <a:ext cx="282982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endParaRPr lang="ko-KR" altLang="en-US" sz="600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507E8E6-5C20-9A82-D4C1-6B0C6EF5C3A3}"/>
              </a:ext>
            </a:extLst>
          </p:cNvPr>
          <p:cNvGrpSpPr/>
          <p:nvPr/>
        </p:nvGrpSpPr>
        <p:grpSpPr>
          <a:xfrm>
            <a:off x="3879055" y="4041434"/>
            <a:ext cx="600796" cy="146860"/>
            <a:chOff x="3879055" y="4041434"/>
            <a:chExt cx="600796" cy="146860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F21A703-5AD9-FED1-06FF-9C68850F84DE}"/>
                </a:ext>
              </a:extLst>
            </p:cNvPr>
            <p:cNvSpPr txBox="1"/>
            <p:nvPr/>
          </p:nvSpPr>
          <p:spPr>
            <a:xfrm>
              <a:off x="3879055" y="40414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3BE7464-80C8-137E-85BF-2CBD540E9FB9}"/>
                </a:ext>
              </a:extLst>
            </p:cNvPr>
            <p:cNvSpPr txBox="1"/>
            <p:nvPr/>
          </p:nvSpPr>
          <p:spPr>
            <a:xfrm>
              <a:off x="4240122" y="40414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</p:grpSp>
      <p:grpSp>
        <p:nvGrpSpPr>
          <p:cNvPr id="387" name="그룹 386">
            <a:extLst>
              <a:ext uri="{FF2B5EF4-FFF2-40B4-BE49-F238E27FC236}">
                <a16:creationId xmlns:a16="http://schemas.microsoft.com/office/drawing/2014/main" id="{815303F3-0E19-F075-C4BC-A12BCC349818}"/>
              </a:ext>
            </a:extLst>
          </p:cNvPr>
          <p:cNvGrpSpPr/>
          <p:nvPr/>
        </p:nvGrpSpPr>
        <p:grpSpPr>
          <a:xfrm>
            <a:off x="5471560" y="3660731"/>
            <a:ext cx="768266" cy="146860"/>
            <a:chOff x="5471560" y="3660731"/>
            <a:chExt cx="768266" cy="14686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BAE4BFA-B459-8514-140E-D6F1921D1DBA}"/>
                </a:ext>
              </a:extLst>
            </p:cNvPr>
            <p:cNvSpPr txBox="1"/>
            <p:nvPr/>
          </p:nvSpPr>
          <p:spPr>
            <a:xfrm>
              <a:off x="5471560" y="3660731"/>
              <a:ext cx="282982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E2F1ABC-6AF5-7340-5165-F10741424FF2}"/>
                </a:ext>
              </a:extLst>
            </p:cNvPr>
            <p:cNvSpPr txBox="1"/>
            <p:nvPr/>
          </p:nvSpPr>
          <p:spPr>
            <a:xfrm>
              <a:off x="5956844" y="3660731"/>
              <a:ext cx="282982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C13FB520-23D4-9353-D96F-033D192114F2}"/>
              </a:ext>
            </a:extLst>
          </p:cNvPr>
          <p:cNvSpPr txBox="1"/>
          <p:nvPr/>
        </p:nvSpPr>
        <p:spPr>
          <a:xfrm>
            <a:off x="5114677" y="2710640"/>
            <a:ext cx="282982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endParaRPr lang="ko-KR" altLang="en-US" sz="600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36C7E35-1F80-CA43-9EA3-A3160B539309}"/>
              </a:ext>
            </a:extLst>
          </p:cNvPr>
          <p:cNvSpPr txBox="1"/>
          <p:nvPr/>
        </p:nvSpPr>
        <p:spPr>
          <a:xfrm>
            <a:off x="5599961" y="2710640"/>
            <a:ext cx="282982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endParaRPr lang="ko-KR" altLang="en-US" sz="600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7CED94D-4EF0-CB82-0138-6D708112CC63}"/>
              </a:ext>
            </a:extLst>
          </p:cNvPr>
          <p:cNvGrpSpPr/>
          <p:nvPr/>
        </p:nvGrpSpPr>
        <p:grpSpPr>
          <a:xfrm>
            <a:off x="3879055" y="3469934"/>
            <a:ext cx="600796" cy="146860"/>
            <a:chOff x="3882230" y="3469934"/>
            <a:chExt cx="600796" cy="14686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F2EC555-5496-3200-F66B-7794C01DB3BF}"/>
                </a:ext>
              </a:extLst>
            </p:cNvPr>
            <p:cNvSpPr txBox="1"/>
            <p:nvPr/>
          </p:nvSpPr>
          <p:spPr>
            <a:xfrm>
              <a:off x="3882230" y="34699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90A600B-DC41-01AB-4BE5-E427722073DF}"/>
                </a:ext>
              </a:extLst>
            </p:cNvPr>
            <p:cNvSpPr txBox="1"/>
            <p:nvPr/>
          </p:nvSpPr>
          <p:spPr>
            <a:xfrm>
              <a:off x="4243297" y="34699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70D4BD70-E7AF-AF00-FC7F-692A3EECBCF5}"/>
              </a:ext>
            </a:extLst>
          </p:cNvPr>
          <p:cNvGrpSpPr/>
          <p:nvPr/>
        </p:nvGrpSpPr>
        <p:grpSpPr>
          <a:xfrm>
            <a:off x="3879055" y="3660434"/>
            <a:ext cx="600796" cy="146860"/>
            <a:chOff x="3882230" y="3469934"/>
            <a:chExt cx="600796" cy="146860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9D9800-735C-1DC8-74D8-4E8DA42DADB8}"/>
                </a:ext>
              </a:extLst>
            </p:cNvPr>
            <p:cNvSpPr txBox="1"/>
            <p:nvPr/>
          </p:nvSpPr>
          <p:spPr>
            <a:xfrm>
              <a:off x="3882230" y="34699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BF8FB05-E5B6-B873-C387-184D5E2DE8F5}"/>
                </a:ext>
              </a:extLst>
            </p:cNvPr>
            <p:cNvSpPr txBox="1"/>
            <p:nvPr/>
          </p:nvSpPr>
          <p:spPr>
            <a:xfrm>
              <a:off x="4243297" y="34699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</p:grpSp>
      <p:grpSp>
        <p:nvGrpSpPr>
          <p:cNvPr id="384" name="그룹 383">
            <a:extLst>
              <a:ext uri="{FF2B5EF4-FFF2-40B4-BE49-F238E27FC236}">
                <a16:creationId xmlns:a16="http://schemas.microsoft.com/office/drawing/2014/main" id="{45AB6108-922B-8F56-BDFE-437E71996C56}"/>
              </a:ext>
            </a:extLst>
          </p:cNvPr>
          <p:cNvGrpSpPr/>
          <p:nvPr/>
        </p:nvGrpSpPr>
        <p:grpSpPr>
          <a:xfrm>
            <a:off x="3879055" y="3850934"/>
            <a:ext cx="600796" cy="146860"/>
            <a:chOff x="3882230" y="3469934"/>
            <a:chExt cx="600796" cy="146860"/>
          </a:xfrm>
        </p:grpSpPr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5A5A91CD-0924-17BE-81EA-87F2F3529FC5}"/>
                </a:ext>
              </a:extLst>
            </p:cNvPr>
            <p:cNvSpPr txBox="1"/>
            <p:nvPr/>
          </p:nvSpPr>
          <p:spPr>
            <a:xfrm>
              <a:off x="3882230" y="34699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50290946-63D7-1317-EF04-98B50DF1122D}"/>
                </a:ext>
              </a:extLst>
            </p:cNvPr>
            <p:cNvSpPr txBox="1"/>
            <p:nvPr/>
          </p:nvSpPr>
          <p:spPr>
            <a:xfrm>
              <a:off x="4243297" y="34699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</p:grpSp>
      <p:grpSp>
        <p:nvGrpSpPr>
          <p:cNvPr id="388" name="그룹 387">
            <a:extLst>
              <a:ext uri="{FF2B5EF4-FFF2-40B4-BE49-F238E27FC236}">
                <a16:creationId xmlns:a16="http://schemas.microsoft.com/office/drawing/2014/main" id="{9C644116-0A39-6E0C-C032-51C6C442EDE6}"/>
              </a:ext>
            </a:extLst>
          </p:cNvPr>
          <p:cNvGrpSpPr/>
          <p:nvPr/>
        </p:nvGrpSpPr>
        <p:grpSpPr>
          <a:xfrm>
            <a:off x="5471560" y="3279156"/>
            <a:ext cx="768266" cy="146860"/>
            <a:chOff x="5471560" y="3660731"/>
            <a:chExt cx="768266" cy="146860"/>
          </a:xfrm>
        </p:grpSpPr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55770404-6E6F-B3AC-7EAF-ACF4B3EFF028}"/>
                </a:ext>
              </a:extLst>
            </p:cNvPr>
            <p:cNvSpPr txBox="1"/>
            <p:nvPr/>
          </p:nvSpPr>
          <p:spPr>
            <a:xfrm>
              <a:off x="5471560" y="3660731"/>
              <a:ext cx="282982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7D985FEB-B403-72C6-920B-6D1997831369}"/>
                </a:ext>
              </a:extLst>
            </p:cNvPr>
            <p:cNvSpPr txBox="1"/>
            <p:nvPr/>
          </p:nvSpPr>
          <p:spPr>
            <a:xfrm>
              <a:off x="5956844" y="3660731"/>
              <a:ext cx="282982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en-US" altLang="ko-KR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</p:grpSp>
      <p:grpSp>
        <p:nvGrpSpPr>
          <p:cNvPr id="391" name="그룹 390">
            <a:extLst>
              <a:ext uri="{FF2B5EF4-FFF2-40B4-BE49-F238E27FC236}">
                <a16:creationId xmlns:a16="http://schemas.microsoft.com/office/drawing/2014/main" id="{80C85028-3E98-EBA4-CC1B-32063F59F03F}"/>
              </a:ext>
            </a:extLst>
          </p:cNvPr>
          <p:cNvGrpSpPr/>
          <p:nvPr/>
        </p:nvGrpSpPr>
        <p:grpSpPr>
          <a:xfrm>
            <a:off x="5471560" y="3469944"/>
            <a:ext cx="768266" cy="146860"/>
            <a:chOff x="5471560" y="3660731"/>
            <a:chExt cx="768266" cy="146860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FCE2FF2C-E111-AD7A-3B05-762BA26F5BA0}"/>
                </a:ext>
              </a:extLst>
            </p:cNvPr>
            <p:cNvSpPr txBox="1"/>
            <p:nvPr/>
          </p:nvSpPr>
          <p:spPr>
            <a:xfrm>
              <a:off x="5471560" y="3660731"/>
              <a:ext cx="282982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8A185CD5-628D-D671-32C3-E0D6C35B02A8}"/>
                </a:ext>
              </a:extLst>
            </p:cNvPr>
            <p:cNvSpPr txBox="1"/>
            <p:nvPr/>
          </p:nvSpPr>
          <p:spPr>
            <a:xfrm>
              <a:off x="5956844" y="3660731"/>
              <a:ext cx="282982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3738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>
          <a:extLst>
            <a:ext uri="{FF2B5EF4-FFF2-40B4-BE49-F238E27FC236}">
              <a16:creationId xmlns:a16="http://schemas.microsoft.com/office/drawing/2014/main" id="{B6B5A22E-984B-977E-17AC-DCA1C658F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1">
            <a:extLst>
              <a:ext uri="{FF2B5EF4-FFF2-40B4-BE49-F238E27FC236}">
                <a16:creationId xmlns:a16="http://schemas.microsoft.com/office/drawing/2014/main" id="{37404C94-4BA1-3539-15CC-5AD378FA46F0}"/>
              </a:ext>
            </a:extLst>
          </p:cNvPr>
          <p:cNvSpPr txBox="1"/>
          <p:nvPr/>
        </p:nvSpPr>
        <p:spPr>
          <a:xfrm>
            <a:off x="797425" y="193050"/>
            <a:ext cx="1551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r>
              <a:rPr lang="ko-KR" altLang="en-US" sz="700" dirty="0">
                <a:solidFill>
                  <a:schemeClr val="dk1"/>
                </a:solidFill>
              </a:rPr>
              <a:t>시뮬레이션</a:t>
            </a:r>
            <a:endParaRPr sz="700" dirty="0">
              <a:solidFill>
                <a:schemeClr val="dk1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397" name="Google Shape;397;p31">
            <a:extLst>
              <a:ext uri="{FF2B5EF4-FFF2-40B4-BE49-F238E27FC236}">
                <a16:creationId xmlns:a16="http://schemas.microsoft.com/office/drawing/2014/main" id="{49840222-CFFD-9708-FF69-48F3752503DF}"/>
              </a:ext>
            </a:extLst>
          </p:cNvPr>
          <p:cNvSpPr txBox="1"/>
          <p:nvPr/>
        </p:nvSpPr>
        <p:spPr>
          <a:xfrm>
            <a:off x="5848375" y="193050"/>
            <a:ext cx="1373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pPr>
              <a:buSzPts val="800"/>
            </a:pPr>
            <a:r>
              <a:rPr lang="en-US" altLang="ko-KR" sz="700" dirty="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-</a:t>
            </a:r>
            <a:endParaRPr sz="700" dirty="0"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400" name="Google Shape;400;p31">
            <a:extLst>
              <a:ext uri="{FF2B5EF4-FFF2-40B4-BE49-F238E27FC236}">
                <a16:creationId xmlns:a16="http://schemas.microsoft.com/office/drawing/2014/main" id="{F122D021-92F6-D38E-EF55-67D5D72BA006}"/>
              </a:ext>
            </a:extLst>
          </p:cNvPr>
          <p:cNvSpPr txBox="1"/>
          <p:nvPr/>
        </p:nvSpPr>
        <p:spPr>
          <a:xfrm>
            <a:off x="7871326" y="193050"/>
            <a:ext cx="1134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altLang="ko" sz="700" dirty="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2025.0</a:t>
            </a:r>
            <a:r>
              <a:rPr lang="en-US" altLang="ko-KR" sz="700" dirty="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9.24</a:t>
            </a:r>
            <a:endParaRPr sz="700" dirty="0">
              <a:solidFill>
                <a:schemeClr val="dk1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E331231-ED51-7DCC-CEA8-843733B418DB}"/>
              </a:ext>
            </a:extLst>
          </p:cNvPr>
          <p:cNvGraphicFramePr>
            <a:graphicFrameLocks noGrp="1"/>
          </p:cNvGraphicFramePr>
          <p:nvPr/>
        </p:nvGraphicFramePr>
        <p:xfrm>
          <a:off x="6777710" y="510828"/>
          <a:ext cx="2228517" cy="1984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55">
                  <a:extLst>
                    <a:ext uri="{9D8B030D-6E8A-4147-A177-3AD203B41FA5}">
                      <a16:colId xmlns:a16="http://schemas.microsoft.com/office/drawing/2014/main" val="1649533771"/>
                    </a:ext>
                  </a:extLst>
                </a:gridCol>
                <a:gridCol w="1935362">
                  <a:extLst>
                    <a:ext uri="{9D8B030D-6E8A-4147-A177-3AD203B41FA5}">
                      <a16:colId xmlns:a16="http://schemas.microsoft.com/office/drawing/2014/main" val="1453130143"/>
                    </a:ext>
                  </a:extLst>
                </a:gridCol>
              </a:tblGrid>
              <a:tr h="181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u="none" strike="noStrike" cap="non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화면 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977616065"/>
                  </a:ext>
                </a:extLst>
              </a:tr>
              <a:tr h="181728">
                <a:tc gridSpan="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687718"/>
                  </a:ext>
                </a:extLst>
              </a:tr>
              <a:tr h="181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7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41008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 Medium"/>
                          <a:sym typeface="Gothic A1 Medium"/>
                        </a:rPr>
                        <a:t>1</a:t>
                      </a:r>
                      <a:endParaRPr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600" b="1" i="0" u="none" strike="noStrike" cap="none" dirty="0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시뮬레이션 시작 버튼</a:t>
                      </a:r>
                    </a:p>
                    <a:p>
                      <a:pPr marL="133200" lvl="0" indent="-84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600"/>
                        <a:buFont typeface="Gothic A1"/>
                        <a:buChar char="-"/>
                      </a:pP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입력된 데이터를 토대로 시뮬레이션 진행</a:t>
                      </a: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43934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 Medium"/>
                          <a:sym typeface="Gothic A1 Medium"/>
                        </a:rPr>
                        <a:t>2</a:t>
                      </a:r>
                      <a:endParaRPr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600" b="1" i="0" u="none" strike="noStrike" cap="none" dirty="0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닫기 버튼</a:t>
                      </a:r>
                    </a:p>
                    <a:p>
                      <a:pPr marL="133200" lvl="0" indent="-84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600"/>
                        <a:buFont typeface="Gothic A1"/>
                        <a:buChar char="-"/>
                      </a:pP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팝업 닫기</a:t>
                      </a: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9426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6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+mn-ea"/>
                        <a:cs typeface="Gothic A1"/>
                        <a:sym typeface="Gothic A1"/>
                      </a:endParaRP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503632"/>
                  </a:ext>
                </a:extLst>
              </a:tr>
              <a:tr h="181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FFFF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필요사항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421113"/>
                  </a:ext>
                </a:extLst>
              </a:tr>
              <a:tr h="23872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각 수치 직접 입력</a:t>
                      </a: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"/>
                        <a:sym typeface="Gothic A1"/>
                      </a:endParaRP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942893"/>
                  </a:ext>
                </a:extLst>
              </a:tr>
            </a:tbl>
          </a:graphicData>
        </a:graphic>
      </p:graphicFrame>
      <p:sp>
        <p:nvSpPr>
          <p:cNvPr id="40" name="직사각형 39">
            <a:extLst>
              <a:ext uri="{FF2B5EF4-FFF2-40B4-BE49-F238E27FC236}">
                <a16:creationId xmlns:a16="http://schemas.microsoft.com/office/drawing/2014/main" id="{6C69EDB0-100E-DD48-E8A7-D89FC8D6583A}"/>
              </a:ext>
            </a:extLst>
          </p:cNvPr>
          <p:cNvSpPr/>
          <p:nvPr/>
        </p:nvSpPr>
        <p:spPr>
          <a:xfrm>
            <a:off x="195385" y="534809"/>
            <a:ext cx="6474216" cy="4776229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700" i="1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4" name="직사각형 393">
            <a:extLst>
              <a:ext uri="{FF2B5EF4-FFF2-40B4-BE49-F238E27FC236}">
                <a16:creationId xmlns:a16="http://schemas.microsoft.com/office/drawing/2014/main" id="{79FE55EE-3841-2493-0A09-82C57BEA54F8}"/>
              </a:ext>
            </a:extLst>
          </p:cNvPr>
          <p:cNvSpPr/>
          <p:nvPr/>
        </p:nvSpPr>
        <p:spPr>
          <a:xfrm>
            <a:off x="151661" y="510828"/>
            <a:ext cx="6517939" cy="20930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7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endParaRPr lang="ko-KR" altLang="en-US" sz="7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76921B5-414B-C817-B6B2-0EE0931CD26C}"/>
              </a:ext>
            </a:extLst>
          </p:cNvPr>
          <p:cNvSpPr/>
          <p:nvPr/>
        </p:nvSpPr>
        <p:spPr>
          <a:xfrm>
            <a:off x="384628" y="878114"/>
            <a:ext cx="6204857" cy="4326058"/>
          </a:xfrm>
          <a:prstGeom prst="roundRect">
            <a:avLst>
              <a:gd name="adj" fmla="val 1011"/>
            </a:avLst>
          </a:prstGeom>
          <a:solidFill>
            <a:schemeClr val="bg1"/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3B719E1-51DE-614D-3141-E01A7DCF805D}"/>
              </a:ext>
            </a:extLst>
          </p:cNvPr>
          <p:cNvSpPr/>
          <p:nvPr/>
        </p:nvSpPr>
        <p:spPr>
          <a:xfrm>
            <a:off x="2496457" y="997334"/>
            <a:ext cx="1872072" cy="199975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7KL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발효시스템 시뮬레이션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567C1A8-B4FB-F005-FD8C-B07F41C32F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29213"/>
              </p:ext>
            </p:extLst>
          </p:nvPr>
        </p:nvGraphicFramePr>
        <p:xfrm>
          <a:off x="653606" y="1364220"/>
          <a:ext cx="5729001" cy="3223200"/>
        </p:xfrm>
        <a:graphic>
          <a:graphicData uri="http://schemas.openxmlformats.org/drawingml/2006/table">
            <a:tbl>
              <a:tblPr>
                <a:tableStyleId>{0AC2C297-DBA1-4DD1-99DE-D7A8A66B7A42}</a:tableStyleId>
              </a:tblPr>
              <a:tblGrid>
                <a:gridCol w="961221">
                  <a:extLst>
                    <a:ext uri="{9D8B030D-6E8A-4147-A177-3AD203B41FA5}">
                      <a16:colId xmlns:a16="http://schemas.microsoft.com/office/drawing/2014/main" val="757650759"/>
                    </a:ext>
                  </a:extLst>
                </a:gridCol>
                <a:gridCol w="646435">
                  <a:extLst>
                    <a:ext uri="{9D8B030D-6E8A-4147-A177-3AD203B41FA5}">
                      <a16:colId xmlns:a16="http://schemas.microsoft.com/office/drawing/2014/main" val="3436574305"/>
                    </a:ext>
                  </a:extLst>
                </a:gridCol>
                <a:gridCol w="32567">
                  <a:extLst>
                    <a:ext uri="{9D8B030D-6E8A-4147-A177-3AD203B41FA5}">
                      <a16:colId xmlns:a16="http://schemas.microsoft.com/office/drawing/2014/main" val="2732250179"/>
                    </a:ext>
                  </a:extLst>
                </a:gridCol>
                <a:gridCol w="727943">
                  <a:extLst>
                    <a:ext uri="{9D8B030D-6E8A-4147-A177-3AD203B41FA5}">
                      <a16:colId xmlns:a16="http://schemas.microsoft.com/office/drawing/2014/main" val="3920047235"/>
                    </a:ext>
                  </a:extLst>
                </a:gridCol>
                <a:gridCol w="809450">
                  <a:extLst>
                    <a:ext uri="{9D8B030D-6E8A-4147-A177-3AD203B41FA5}">
                      <a16:colId xmlns:a16="http://schemas.microsoft.com/office/drawing/2014/main" val="3562253053"/>
                    </a:ext>
                  </a:extLst>
                </a:gridCol>
                <a:gridCol w="691406">
                  <a:extLst>
                    <a:ext uri="{9D8B030D-6E8A-4147-A177-3AD203B41FA5}">
                      <a16:colId xmlns:a16="http://schemas.microsoft.com/office/drawing/2014/main" val="230696561"/>
                    </a:ext>
                  </a:extLst>
                </a:gridCol>
                <a:gridCol w="809450">
                  <a:extLst>
                    <a:ext uri="{9D8B030D-6E8A-4147-A177-3AD203B41FA5}">
                      <a16:colId xmlns:a16="http://schemas.microsoft.com/office/drawing/2014/main" val="2884640371"/>
                    </a:ext>
                  </a:extLst>
                </a:gridCol>
                <a:gridCol w="119896">
                  <a:extLst>
                    <a:ext uri="{9D8B030D-6E8A-4147-A177-3AD203B41FA5}">
                      <a16:colId xmlns:a16="http://schemas.microsoft.com/office/drawing/2014/main" val="3193155581"/>
                    </a:ext>
                  </a:extLst>
                </a:gridCol>
                <a:gridCol w="369146">
                  <a:extLst>
                    <a:ext uri="{9D8B030D-6E8A-4147-A177-3AD203B41FA5}">
                      <a16:colId xmlns:a16="http://schemas.microsoft.com/office/drawing/2014/main" val="3329435999"/>
                    </a:ext>
                  </a:extLst>
                </a:gridCol>
                <a:gridCol w="118800">
                  <a:extLst>
                    <a:ext uri="{9D8B030D-6E8A-4147-A177-3AD203B41FA5}">
                      <a16:colId xmlns:a16="http://schemas.microsoft.com/office/drawing/2014/main" val="2991319323"/>
                    </a:ext>
                  </a:extLst>
                </a:gridCol>
                <a:gridCol w="442687">
                  <a:extLst>
                    <a:ext uri="{9D8B030D-6E8A-4147-A177-3AD203B41FA5}">
                      <a16:colId xmlns:a16="http://schemas.microsoft.com/office/drawing/2014/main" val="3224767509"/>
                    </a:ext>
                  </a:extLst>
                </a:gridCol>
              </a:tblGrid>
              <a:tr h="189600">
                <a:tc gridSpan="1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1. </a:t>
                      </a:r>
                      <a:r>
                        <a:rPr lang="ko-KR" altLang="en-US" sz="700" b="1" u="none" strike="noStrike" dirty="0">
                          <a:effectLst/>
                        </a:rPr>
                        <a:t>원료상태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664023"/>
                  </a:ext>
                </a:extLst>
              </a:tr>
              <a:tr h="189600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배지명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상수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500L</a:t>
                      </a: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>
                          <a:effectLst/>
                        </a:rPr>
                        <a:t>액체배지</a:t>
                      </a:r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r>
                        <a:rPr lang="ko-KR" altLang="en-US" sz="7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>
                          <a:effectLst/>
                        </a:rPr>
                        <a:t>직전 공명관 진행일</a:t>
                      </a:r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999139"/>
                  </a:ext>
                </a:extLst>
              </a:tr>
              <a:tr h="189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분말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33.8kg</a:t>
                      </a: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별도살균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>
                          <a:effectLst/>
                        </a:rPr>
                        <a:t>입고일자</a:t>
                      </a:r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999427"/>
                  </a:ext>
                </a:extLst>
              </a:tr>
              <a:tr h="189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추출액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204539"/>
                  </a:ext>
                </a:extLst>
              </a:tr>
              <a:tr h="189600">
                <a:tc gridSpan="1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2. </a:t>
                      </a:r>
                      <a:r>
                        <a:rPr lang="ko-KR" altLang="en-US" sz="700" b="1" u="none" strike="noStrike" dirty="0">
                          <a:effectLst/>
                        </a:rPr>
                        <a:t>작업내용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078116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배양일자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시작일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종료일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114734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균주명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김치유산균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배양 </a:t>
                      </a:r>
                      <a:r>
                        <a:rPr lang="en-US" sz="700" b="1" u="none" strike="noStrike" dirty="0">
                          <a:effectLst/>
                        </a:rPr>
                        <a:t>Volume(ℓ)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500L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981284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1" u="none" strike="noStrike" dirty="0">
                          <a:effectLst/>
                        </a:rPr>
                        <a:t>배지투입시각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11:00</a:t>
                      </a: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탱크내부압력</a:t>
                      </a: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(PS)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852272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배지멸균온도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121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˚</a:t>
                      </a: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배지멸균시간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15m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배지멸균종료시각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12:30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360340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거품 발생여부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안티폼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20ml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TANK </a:t>
                      </a:r>
                      <a:r>
                        <a:rPr lang="ko-KR" altLang="en-US" sz="700" b="1" u="none" strike="noStrike" dirty="0">
                          <a:effectLst/>
                        </a:rPr>
                        <a:t>투입 </a:t>
                      </a:r>
                      <a:r>
                        <a:rPr lang="ko-KR" altLang="en-US" sz="700" b="1" u="none" strike="noStrike" dirty="0" err="1">
                          <a:effectLst/>
                        </a:rPr>
                        <a:t>안티폼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034721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>
                          <a:effectLst/>
                        </a:rPr>
                        <a:t>Air Volume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0.3</a:t>
                      </a: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v/v/m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  <a:sym typeface="Arial"/>
                        </a:rPr>
                        <a:t>~        l/m</a:t>
                      </a:r>
                    </a:p>
                  </a:txBody>
                  <a:tcPr marL="7167" marR="36000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보정 </a:t>
                      </a:r>
                      <a:r>
                        <a:rPr lang="en-US" sz="700" b="1" u="none" strike="noStrike" dirty="0">
                          <a:effectLst/>
                        </a:rPr>
                        <a:t>TANK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접종일 </a:t>
                      </a:r>
                      <a:r>
                        <a:rPr lang="en-US" altLang="ko-KR" sz="700" b="1" u="none" strike="noStrike" dirty="0">
                          <a:effectLst/>
                        </a:rPr>
                        <a:t>18</a:t>
                      </a:r>
                      <a:r>
                        <a:rPr lang="ko-KR" altLang="en-US" sz="700" b="1" u="none" strike="noStrike" dirty="0">
                          <a:effectLst/>
                        </a:rPr>
                        <a:t>시 </a:t>
                      </a:r>
                      <a:r>
                        <a:rPr lang="en-US" sz="700" b="1" u="none" strike="noStrike" dirty="0">
                          <a:effectLst/>
                        </a:rPr>
                        <a:t>pH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48449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>
                          <a:effectLst/>
                        </a:rPr>
                        <a:t>배양 </a:t>
                      </a:r>
                      <a:r>
                        <a:rPr lang="en-US" sz="700" b="1" u="none" strike="noStrike">
                          <a:effectLst/>
                        </a:rPr>
                        <a:t>RPM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            rpm   </a:t>
                      </a:r>
                    </a:p>
                  </a:txBody>
                  <a:tcPr marL="36000" marR="72000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배지 투입 </a:t>
                      </a:r>
                      <a:r>
                        <a:rPr lang="en-US" sz="700" b="1" u="none" strike="noStrike" dirty="0">
                          <a:effectLst/>
                        </a:rPr>
                        <a:t>pH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익일 </a:t>
                      </a:r>
                      <a:r>
                        <a:rPr lang="en-US" altLang="ko-KR" sz="700" b="1" u="none" strike="noStrike" dirty="0">
                          <a:effectLst/>
                        </a:rPr>
                        <a:t>09</a:t>
                      </a:r>
                      <a:r>
                        <a:rPr lang="ko-KR" altLang="en-US" sz="700" b="1" u="none" strike="noStrike" dirty="0">
                          <a:effectLst/>
                        </a:rPr>
                        <a:t>시 </a:t>
                      </a:r>
                      <a:r>
                        <a:rPr lang="en-US" sz="700" b="1" u="none" strike="noStrike" dirty="0">
                          <a:effectLst/>
                        </a:rPr>
                        <a:t>pH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546464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배양온도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               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˚</a:t>
                      </a: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7167" marR="72000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배지 냉각 </a:t>
                      </a:r>
                      <a:r>
                        <a:rPr lang="en-US" sz="700" b="1" u="none" strike="noStrike" dirty="0">
                          <a:effectLst/>
                        </a:rPr>
                        <a:t>pH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보정 </a:t>
                      </a:r>
                      <a:r>
                        <a:rPr lang="en-US" sz="700" b="1" u="none" strike="noStrike" dirty="0">
                          <a:effectLst/>
                        </a:rPr>
                        <a:t>pH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279549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질소포징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배지 접종 </a:t>
                      </a:r>
                      <a:r>
                        <a:rPr lang="en-US" sz="700" b="1" u="none" strike="noStrike" dirty="0">
                          <a:effectLst/>
                        </a:rPr>
                        <a:t>pH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pH </a:t>
                      </a:r>
                      <a:r>
                        <a:rPr lang="ko-KR" altLang="en-US" sz="700" b="1" u="none" strike="noStrike" dirty="0">
                          <a:effectLst/>
                        </a:rPr>
                        <a:t>보정 인터벌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211895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접종시각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14:00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DO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4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682646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야간 모니터링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접종일 </a:t>
                      </a:r>
                      <a:r>
                        <a:rPr lang="en-US" altLang="ko-KR" sz="700" b="1" u="none" strike="noStrike" dirty="0">
                          <a:effectLst/>
                        </a:rPr>
                        <a:t>18</a:t>
                      </a:r>
                      <a:r>
                        <a:rPr lang="ko-KR" altLang="en-US" sz="700" b="1" u="none" strike="noStrike" dirty="0">
                          <a:effectLst/>
                        </a:rPr>
                        <a:t>시 </a:t>
                      </a:r>
                      <a:r>
                        <a:rPr lang="en-US" sz="700" b="1" u="none" strike="noStrike" dirty="0">
                          <a:effectLst/>
                        </a:rPr>
                        <a:t>DO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추가작업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>
                          <a:effectLst/>
                        </a:rPr>
                        <a:t>가열</a:t>
                      </a:r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593669"/>
                  </a:ext>
                </a:extLst>
              </a:tr>
              <a:tr h="189600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>
                          <a:effectLst/>
                        </a:rPr>
                        <a:t>익일 </a:t>
                      </a:r>
                      <a:r>
                        <a:rPr lang="en-US" altLang="ko-KR" sz="700" b="1" u="none" strike="noStrike">
                          <a:effectLst/>
                        </a:rPr>
                        <a:t>09</a:t>
                      </a:r>
                      <a:r>
                        <a:rPr lang="ko-KR" altLang="en-US" sz="700" b="1" u="none" strike="noStrike">
                          <a:effectLst/>
                        </a:rPr>
                        <a:t>시 </a:t>
                      </a:r>
                      <a:r>
                        <a:rPr lang="en-US" sz="700" b="1" u="none" strike="noStrike">
                          <a:effectLst/>
                        </a:rPr>
                        <a:t>DO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>
                          <a:effectLst/>
                        </a:rPr>
                        <a:t>냉각</a:t>
                      </a:r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O</a:t>
                      </a:r>
                      <a:r>
                        <a:rPr lang="ko-KR" altLang="en-US" sz="7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562881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F0021640-0D2F-838D-049B-7A2088304174}"/>
              </a:ext>
            </a:extLst>
          </p:cNvPr>
          <p:cNvGrpSpPr/>
          <p:nvPr/>
        </p:nvGrpSpPr>
        <p:grpSpPr>
          <a:xfrm>
            <a:off x="2558736" y="2326363"/>
            <a:ext cx="1074779" cy="146860"/>
            <a:chOff x="7333936" y="3262534"/>
            <a:chExt cx="1074779" cy="14686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97CEC98-E4C5-3644-2E51-1F87FF399AFE}"/>
                </a:ext>
              </a:extLst>
            </p:cNvPr>
            <p:cNvSpPr txBox="1"/>
            <p:nvPr/>
          </p:nvSpPr>
          <p:spPr>
            <a:xfrm>
              <a:off x="7333936" y="3262534"/>
              <a:ext cx="107477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defTabSz="685772" latinLnBrk="1">
                <a:buClrTx/>
                <a:defRPr/>
              </a:pP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연도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월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일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시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분</a:t>
              </a:r>
            </a:p>
          </p:txBody>
        </p:sp>
        <p:pic>
          <p:nvPicPr>
            <p:cNvPr id="15" name="그래픽 14" descr="플립 달력">
              <a:extLst>
                <a:ext uri="{FF2B5EF4-FFF2-40B4-BE49-F238E27FC236}">
                  <a16:creationId xmlns:a16="http://schemas.microsoft.com/office/drawing/2014/main" id="{580DE037-E7D4-1B66-8931-CF6CB46BC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40273" y="3272259"/>
              <a:ext cx="123564" cy="123564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99EFBF4-157F-18DD-D22F-6004C78F44B0}"/>
              </a:ext>
            </a:extLst>
          </p:cNvPr>
          <p:cNvGrpSpPr/>
          <p:nvPr/>
        </p:nvGrpSpPr>
        <p:grpSpPr>
          <a:xfrm>
            <a:off x="5031371" y="2326363"/>
            <a:ext cx="1074779" cy="146860"/>
            <a:chOff x="7333936" y="3262534"/>
            <a:chExt cx="1074779" cy="14686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BD351D4-9397-9F6E-617A-02961E4BA195}"/>
                </a:ext>
              </a:extLst>
            </p:cNvPr>
            <p:cNvSpPr txBox="1"/>
            <p:nvPr/>
          </p:nvSpPr>
          <p:spPr>
            <a:xfrm>
              <a:off x="7333936" y="3262534"/>
              <a:ext cx="107477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defTabSz="685772" latinLnBrk="1">
                <a:buClrTx/>
                <a:defRPr/>
              </a:pP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연도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월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일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시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분</a:t>
              </a:r>
            </a:p>
          </p:txBody>
        </p:sp>
        <p:pic>
          <p:nvPicPr>
            <p:cNvPr id="19" name="그래픽 18" descr="플립 달력">
              <a:extLst>
                <a:ext uri="{FF2B5EF4-FFF2-40B4-BE49-F238E27FC236}">
                  <a16:creationId xmlns:a16="http://schemas.microsoft.com/office/drawing/2014/main" id="{8DE780EC-49E4-3AFF-F8AC-92F372299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40273" y="3272259"/>
              <a:ext cx="123564" cy="123564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91BCF77-DCBC-A0EF-5B5D-1042E5B3DEA9}"/>
              </a:ext>
            </a:extLst>
          </p:cNvPr>
          <p:cNvGrpSpPr/>
          <p:nvPr/>
        </p:nvGrpSpPr>
        <p:grpSpPr>
          <a:xfrm>
            <a:off x="5391287" y="1574575"/>
            <a:ext cx="939663" cy="146860"/>
            <a:chOff x="7333936" y="3262534"/>
            <a:chExt cx="1074779" cy="14686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4020699-B02D-B1B8-CFA2-F6080AE10E04}"/>
                </a:ext>
              </a:extLst>
            </p:cNvPr>
            <p:cNvSpPr txBox="1"/>
            <p:nvPr/>
          </p:nvSpPr>
          <p:spPr>
            <a:xfrm>
              <a:off x="7333936" y="3262534"/>
              <a:ext cx="107477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defTabSz="685772" latinLnBrk="1">
                <a:buClrTx/>
                <a:defRPr/>
              </a:pP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연도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월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일</a:t>
              </a:r>
            </a:p>
          </p:txBody>
        </p:sp>
        <p:pic>
          <p:nvPicPr>
            <p:cNvPr id="22" name="그래픽 21" descr="플립 달력">
              <a:extLst>
                <a:ext uri="{FF2B5EF4-FFF2-40B4-BE49-F238E27FC236}">
                  <a16:creationId xmlns:a16="http://schemas.microsoft.com/office/drawing/2014/main" id="{3FD189F1-E00D-9486-7040-FF24E71D3D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40273" y="3272259"/>
              <a:ext cx="123564" cy="123564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89D8049-2922-E393-0954-6FE307641C38}"/>
              </a:ext>
            </a:extLst>
          </p:cNvPr>
          <p:cNvGrpSpPr/>
          <p:nvPr/>
        </p:nvGrpSpPr>
        <p:grpSpPr>
          <a:xfrm>
            <a:off x="5394462" y="1850800"/>
            <a:ext cx="939663" cy="146860"/>
            <a:chOff x="7333936" y="3262534"/>
            <a:chExt cx="1074779" cy="14686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F510C75-2520-5646-CDF8-B61769B06CB4}"/>
                </a:ext>
              </a:extLst>
            </p:cNvPr>
            <p:cNvSpPr txBox="1"/>
            <p:nvPr/>
          </p:nvSpPr>
          <p:spPr>
            <a:xfrm>
              <a:off x="7333936" y="3262534"/>
              <a:ext cx="107477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defTabSz="685772" latinLnBrk="1">
                <a:buClrTx/>
                <a:defRPr/>
              </a:pP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연도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월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일</a:t>
              </a:r>
            </a:p>
          </p:txBody>
        </p:sp>
        <p:pic>
          <p:nvPicPr>
            <p:cNvPr id="25" name="그래픽 24" descr="플립 달력">
              <a:extLst>
                <a:ext uri="{FF2B5EF4-FFF2-40B4-BE49-F238E27FC236}">
                  <a16:creationId xmlns:a16="http://schemas.microsoft.com/office/drawing/2014/main" id="{9AA96582-71CF-EA68-285D-C02B1EA90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40273" y="3272259"/>
              <a:ext cx="123564" cy="123564"/>
            </a:xfrm>
            <a:prstGeom prst="rect">
              <a:avLst/>
            </a:prstGeom>
          </p:spPr>
        </p:pic>
      </p:grp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1D60504-D4C1-4D58-562F-E7884E0A2EEE}"/>
              </a:ext>
            </a:extLst>
          </p:cNvPr>
          <p:cNvSpPr/>
          <p:nvPr/>
        </p:nvSpPr>
        <p:spPr>
          <a:xfrm>
            <a:off x="5397659" y="4726522"/>
            <a:ext cx="988104" cy="276225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800" b="1" kern="1200" dirty="0">
                <a:solidFill>
                  <a:schemeClr val="tx1"/>
                </a:solidFill>
                <a:latin typeface="+mn-ea"/>
              </a:rPr>
              <a:t>시뮬레이션 시작</a:t>
            </a:r>
            <a:endParaRPr lang="en-US" altLang="ko-KR" sz="800" b="1" kern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F2F1C36-FEEA-B369-7590-8F3A55F69204}"/>
              </a:ext>
            </a:extLst>
          </p:cNvPr>
          <p:cNvSpPr/>
          <p:nvPr/>
        </p:nvSpPr>
        <p:spPr>
          <a:xfrm>
            <a:off x="4260326" y="4726522"/>
            <a:ext cx="950025" cy="27622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800" b="1" kern="1200" dirty="0">
                <a:solidFill>
                  <a:schemeClr val="tx1"/>
                </a:solidFill>
                <a:latin typeface="+mn-ea"/>
              </a:rPr>
              <a:t>닫기</a:t>
            </a:r>
            <a:endParaRPr lang="en-US" altLang="ko-KR" sz="800" b="1" kern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Google Shape;208;p21">
            <a:extLst>
              <a:ext uri="{FF2B5EF4-FFF2-40B4-BE49-F238E27FC236}">
                <a16:creationId xmlns:a16="http://schemas.microsoft.com/office/drawing/2014/main" id="{2B6FAFD6-AC56-D317-3D73-26DEBF0003B7}"/>
              </a:ext>
            </a:extLst>
          </p:cNvPr>
          <p:cNvSpPr/>
          <p:nvPr/>
        </p:nvSpPr>
        <p:spPr>
          <a:xfrm>
            <a:off x="4174888" y="4629446"/>
            <a:ext cx="173849" cy="189899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28575" dir="264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600" b="1" dirty="0">
                <a:latin typeface="Gothic A1"/>
                <a:ea typeface="Gothic A1"/>
                <a:cs typeface="Gothic A1"/>
                <a:sym typeface="Gothic A1"/>
              </a:rPr>
              <a:t>2</a:t>
            </a:r>
            <a:endParaRPr sz="600" b="1" dirty="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3" name="Google Shape;208;p21">
            <a:extLst>
              <a:ext uri="{FF2B5EF4-FFF2-40B4-BE49-F238E27FC236}">
                <a16:creationId xmlns:a16="http://schemas.microsoft.com/office/drawing/2014/main" id="{44E63797-FCF8-551F-3F0E-8FFDEB09BA51}"/>
              </a:ext>
            </a:extLst>
          </p:cNvPr>
          <p:cNvSpPr/>
          <p:nvPr/>
        </p:nvSpPr>
        <p:spPr>
          <a:xfrm>
            <a:off x="5322088" y="4646987"/>
            <a:ext cx="173849" cy="189899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28575" dir="264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600" b="1" dirty="0">
                <a:latin typeface="Gothic A1"/>
                <a:ea typeface="Gothic A1"/>
                <a:cs typeface="Gothic A1"/>
                <a:sym typeface="Gothic A1"/>
              </a:rPr>
              <a:t>1</a:t>
            </a:r>
            <a:endParaRPr sz="600" b="1" dirty="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7B8C2E-FE57-4D45-9B9F-7151C1DDE8D2}"/>
              </a:ext>
            </a:extLst>
          </p:cNvPr>
          <p:cNvSpPr txBox="1"/>
          <p:nvPr/>
        </p:nvSpPr>
        <p:spPr>
          <a:xfrm>
            <a:off x="2305050" y="3283496"/>
            <a:ext cx="205709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r>
              <a:rPr lang="en-US" altLang="ko-KR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145</a:t>
            </a:r>
            <a:endParaRPr lang="ko-KR" altLang="en-US" sz="600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C6E23C-AB29-8384-9F33-C91435C627A9}"/>
              </a:ext>
            </a:extLst>
          </p:cNvPr>
          <p:cNvSpPr txBox="1"/>
          <p:nvPr/>
        </p:nvSpPr>
        <p:spPr>
          <a:xfrm>
            <a:off x="2619376" y="3283496"/>
            <a:ext cx="205710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r>
              <a:rPr lang="en-US" altLang="ko-KR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155</a:t>
            </a:r>
            <a:endParaRPr lang="ko-KR" altLang="en-US" sz="600" kern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F0A674-444C-BAE1-3DCE-5EEFB07D2789}"/>
              </a:ext>
            </a:extLst>
          </p:cNvPr>
          <p:cNvSpPr txBox="1"/>
          <p:nvPr/>
        </p:nvSpPr>
        <p:spPr>
          <a:xfrm>
            <a:off x="1957776" y="3468892"/>
            <a:ext cx="282982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r>
              <a:rPr lang="en-US" altLang="ko-KR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5.5</a:t>
            </a:r>
            <a:endParaRPr lang="ko-KR" altLang="en-US" sz="600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8D40934-7DA2-C0F4-88D8-3D15B0D7C766}"/>
              </a:ext>
            </a:extLst>
          </p:cNvPr>
          <p:cNvSpPr txBox="1"/>
          <p:nvPr/>
        </p:nvSpPr>
        <p:spPr>
          <a:xfrm>
            <a:off x="2443060" y="3468892"/>
            <a:ext cx="282982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r>
              <a:rPr lang="en-US" altLang="ko-KR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6.5</a:t>
            </a:r>
            <a:endParaRPr lang="ko-KR" altLang="en-US" sz="600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0FD9AD-43AA-152D-2A1A-6250F57B873C}"/>
              </a:ext>
            </a:extLst>
          </p:cNvPr>
          <p:cNvSpPr txBox="1"/>
          <p:nvPr/>
        </p:nvSpPr>
        <p:spPr>
          <a:xfrm>
            <a:off x="1957776" y="3660731"/>
            <a:ext cx="282982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r>
              <a:rPr lang="en-US" altLang="ko-KR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36.7</a:t>
            </a:r>
            <a:endParaRPr lang="ko-KR" altLang="en-US" sz="600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46D6EF-D837-B915-1BEE-60DF74EF261F}"/>
              </a:ext>
            </a:extLst>
          </p:cNvPr>
          <p:cNvSpPr txBox="1"/>
          <p:nvPr/>
        </p:nvSpPr>
        <p:spPr>
          <a:xfrm>
            <a:off x="2443060" y="3660731"/>
            <a:ext cx="282982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r>
              <a:rPr lang="en-US" altLang="ko-KR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37.3</a:t>
            </a:r>
            <a:endParaRPr lang="ko-KR" altLang="en-US" sz="600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DABF8AD-14A7-DCB2-479D-767F1FF6D74A}"/>
              </a:ext>
            </a:extLst>
          </p:cNvPr>
          <p:cNvGrpSpPr/>
          <p:nvPr/>
        </p:nvGrpSpPr>
        <p:grpSpPr>
          <a:xfrm>
            <a:off x="3879055" y="4041434"/>
            <a:ext cx="600796" cy="146860"/>
            <a:chOff x="3879055" y="4041434"/>
            <a:chExt cx="600796" cy="146860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FCC5ADA-FE1C-E5D1-4BB1-412FCA4CCB0C}"/>
                </a:ext>
              </a:extLst>
            </p:cNvPr>
            <p:cNvSpPr txBox="1"/>
            <p:nvPr/>
          </p:nvSpPr>
          <p:spPr>
            <a:xfrm>
              <a:off x="3879055" y="40414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EDC73E5-B568-785F-9171-21D8790CF4ED}"/>
                </a:ext>
              </a:extLst>
            </p:cNvPr>
            <p:cNvSpPr txBox="1"/>
            <p:nvPr/>
          </p:nvSpPr>
          <p:spPr>
            <a:xfrm>
              <a:off x="4240122" y="40414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</p:grpSp>
      <p:grpSp>
        <p:nvGrpSpPr>
          <p:cNvPr id="387" name="그룹 386">
            <a:extLst>
              <a:ext uri="{FF2B5EF4-FFF2-40B4-BE49-F238E27FC236}">
                <a16:creationId xmlns:a16="http://schemas.microsoft.com/office/drawing/2014/main" id="{24786FFB-1737-1310-E0DD-D2EE70351D20}"/>
              </a:ext>
            </a:extLst>
          </p:cNvPr>
          <p:cNvGrpSpPr/>
          <p:nvPr/>
        </p:nvGrpSpPr>
        <p:grpSpPr>
          <a:xfrm>
            <a:off x="5471560" y="3660731"/>
            <a:ext cx="768266" cy="146860"/>
            <a:chOff x="5471560" y="3660731"/>
            <a:chExt cx="768266" cy="14686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9382A03-F398-325A-587C-DC5C919B45D8}"/>
                </a:ext>
              </a:extLst>
            </p:cNvPr>
            <p:cNvSpPr txBox="1"/>
            <p:nvPr/>
          </p:nvSpPr>
          <p:spPr>
            <a:xfrm>
              <a:off x="5471560" y="3660731"/>
              <a:ext cx="282982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D0D2359-9CDB-51EE-A6A6-F09822A930A9}"/>
                </a:ext>
              </a:extLst>
            </p:cNvPr>
            <p:cNvSpPr txBox="1"/>
            <p:nvPr/>
          </p:nvSpPr>
          <p:spPr>
            <a:xfrm>
              <a:off x="5956844" y="3660731"/>
              <a:ext cx="282982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ED5228BA-0E64-D9A4-3A66-F5372CE54A85}"/>
              </a:ext>
            </a:extLst>
          </p:cNvPr>
          <p:cNvSpPr txBox="1"/>
          <p:nvPr/>
        </p:nvSpPr>
        <p:spPr>
          <a:xfrm>
            <a:off x="5114677" y="2710640"/>
            <a:ext cx="282982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r>
              <a:rPr lang="en-US" altLang="ko-KR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0.25</a:t>
            </a:r>
            <a:endParaRPr lang="ko-KR" altLang="en-US" sz="600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2A3B68C-4A13-300C-04F0-34213C62D1BE}"/>
              </a:ext>
            </a:extLst>
          </p:cNvPr>
          <p:cNvSpPr txBox="1"/>
          <p:nvPr/>
        </p:nvSpPr>
        <p:spPr>
          <a:xfrm>
            <a:off x="5599961" y="2710640"/>
            <a:ext cx="282982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r>
              <a:rPr lang="en-US" altLang="ko-KR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0.35</a:t>
            </a:r>
            <a:endParaRPr lang="ko-KR" altLang="en-US" sz="600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3978E90B-AF89-59A2-6B3D-C8EF23BFA093}"/>
              </a:ext>
            </a:extLst>
          </p:cNvPr>
          <p:cNvGrpSpPr/>
          <p:nvPr/>
        </p:nvGrpSpPr>
        <p:grpSpPr>
          <a:xfrm>
            <a:off x="3879055" y="3469934"/>
            <a:ext cx="600796" cy="146860"/>
            <a:chOff x="3882230" y="3469934"/>
            <a:chExt cx="600796" cy="14686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FFC590B-37E9-C37C-97D7-B75CF76B00CC}"/>
                </a:ext>
              </a:extLst>
            </p:cNvPr>
            <p:cNvSpPr txBox="1"/>
            <p:nvPr/>
          </p:nvSpPr>
          <p:spPr>
            <a:xfrm>
              <a:off x="3882230" y="34699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r>
                <a:rPr lang="en-US" altLang="ko-KR" sz="600" kern="1200" dirty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6.75</a:t>
              </a: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E247BCC-61A5-6B9F-FA92-161C403E7304}"/>
                </a:ext>
              </a:extLst>
            </p:cNvPr>
            <p:cNvSpPr txBox="1"/>
            <p:nvPr/>
          </p:nvSpPr>
          <p:spPr>
            <a:xfrm>
              <a:off x="4243297" y="34699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r>
                <a:rPr lang="en-US" altLang="ko-KR" sz="600" kern="1200" dirty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7.15</a:t>
              </a: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61B4E5AC-C60F-C327-AEE7-EB60038A7BE3}"/>
              </a:ext>
            </a:extLst>
          </p:cNvPr>
          <p:cNvGrpSpPr/>
          <p:nvPr/>
        </p:nvGrpSpPr>
        <p:grpSpPr>
          <a:xfrm>
            <a:off x="3879055" y="3660434"/>
            <a:ext cx="600796" cy="146860"/>
            <a:chOff x="3882230" y="3469934"/>
            <a:chExt cx="600796" cy="146860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C305A8C-74CD-19E3-44B1-40305B7588E3}"/>
                </a:ext>
              </a:extLst>
            </p:cNvPr>
            <p:cNvSpPr txBox="1"/>
            <p:nvPr/>
          </p:nvSpPr>
          <p:spPr>
            <a:xfrm>
              <a:off x="3882230" y="34699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35CCC8B-8196-6708-7BF5-05B0F256FDCD}"/>
                </a:ext>
              </a:extLst>
            </p:cNvPr>
            <p:cNvSpPr txBox="1"/>
            <p:nvPr/>
          </p:nvSpPr>
          <p:spPr>
            <a:xfrm>
              <a:off x="4243297" y="34699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</p:grpSp>
      <p:grpSp>
        <p:nvGrpSpPr>
          <p:cNvPr id="384" name="그룹 383">
            <a:extLst>
              <a:ext uri="{FF2B5EF4-FFF2-40B4-BE49-F238E27FC236}">
                <a16:creationId xmlns:a16="http://schemas.microsoft.com/office/drawing/2014/main" id="{764A683C-D8FE-CB1D-17F9-E7C7975C6C66}"/>
              </a:ext>
            </a:extLst>
          </p:cNvPr>
          <p:cNvGrpSpPr/>
          <p:nvPr/>
        </p:nvGrpSpPr>
        <p:grpSpPr>
          <a:xfrm>
            <a:off x="3879055" y="3850934"/>
            <a:ext cx="600796" cy="146860"/>
            <a:chOff x="3882230" y="3469934"/>
            <a:chExt cx="600796" cy="146860"/>
          </a:xfrm>
        </p:grpSpPr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E0AF3DC5-B6AB-ABA4-DF17-4EBFADA5418E}"/>
                </a:ext>
              </a:extLst>
            </p:cNvPr>
            <p:cNvSpPr txBox="1"/>
            <p:nvPr/>
          </p:nvSpPr>
          <p:spPr>
            <a:xfrm>
              <a:off x="3882230" y="34699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r>
                <a:rPr lang="en-US" altLang="ko-KR" sz="600" kern="1200" dirty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6.70</a:t>
              </a: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BD5F5376-F8ED-5318-BE18-2EB815E45A2E}"/>
                </a:ext>
              </a:extLst>
            </p:cNvPr>
            <p:cNvSpPr txBox="1"/>
            <p:nvPr/>
          </p:nvSpPr>
          <p:spPr>
            <a:xfrm>
              <a:off x="4243297" y="34699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r>
                <a:rPr lang="en-US" altLang="ko-KR" sz="600" kern="1200" dirty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7.05</a:t>
              </a: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</p:grpSp>
      <p:grpSp>
        <p:nvGrpSpPr>
          <p:cNvPr id="388" name="그룹 387">
            <a:extLst>
              <a:ext uri="{FF2B5EF4-FFF2-40B4-BE49-F238E27FC236}">
                <a16:creationId xmlns:a16="http://schemas.microsoft.com/office/drawing/2014/main" id="{7752DFEE-6719-BF4A-EC21-419F74598177}"/>
              </a:ext>
            </a:extLst>
          </p:cNvPr>
          <p:cNvGrpSpPr/>
          <p:nvPr/>
        </p:nvGrpSpPr>
        <p:grpSpPr>
          <a:xfrm>
            <a:off x="5471560" y="3279156"/>
            <a:ext cx="768266" cy="146860"/>
            <a:chOff x="5471560" y="3660731"/>
            <a:chExt cx="768266" cy="146860"/>
          </a:xfrm>
        </p:grpSpPr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DA1045BA-0465-FCFC-E840-B8FE56E15C2E}"/>
                </a:ext>
              </a:extLst>
            </p:cNvPr>
            <p:cNvSpPr txBox="1"/>
            <p:nvPr/>
          </p:nvSpPr>
          <p:spPr>
            <a:xfrm>
              <a:off x="5471560" y="3660731"/>
              <a:ext cx="282982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r>
                <a:rPr lang="en-US" altLang="ko-KR" sz="600" kern="1200" dirty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6.45</a:t>
              </a: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B48078DF-855C-8609-38BB-C8DE54365027}"/>
                </a:ext>
              </a:extLst>
            </p:cNvPr>
            <p:cNvSpPr txBox="1"/>
            <p:nvPr/>
          </p:nvSpPr>
          <p:spPr>
            <a:xfrm>
              <a:off x="5956844" y="3660731"/>
              <a:ext cx="282982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r>
                <a:rPr lang="en-US" altLang="ko-KR" sz="600" kern="1200" dirty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6.85</a:t>
              </a:r>
            </a:p>
          </p:txBody>
        </p:sp>
      </p:grpSp>
      <p:grpSp>
        <p:nvGrpSpPr>
          <p:cNvPr id="391" name="그룹 390">
            <a:extLst>
              <a:ext uri="{FF2B5EF4-FFF2-40B4-BE49-F238E27FC236}">
                <a16:creationId xmlns:a16="http://schemas.microsoft.com/office/drawing/2014/main" id="{2BBA6D91-A026-1512-4DA2-8259D45FAC62}"/>
              </a:ext>
            </a:extLst>
          </p:cNvPr>
          <p:cNvGrpSpPr/>
          <p:nvPr/>
        </p:nvGrpSpPr>
        <p:grpSpPr>
          <a:xfrm>
            <a:off x="5471560" y="3469944"/>
            <a:ext cx="768266" cy="146860"/>
            <a:chOff x="5471560" y="3660731"/>
            <a:chExt cx="768266" cy="146860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A6AA4B66-721E-F4FF-F827-543CA1039E2B}"/>
                </a:ext>
              </a:extLst>
            </p:cNvPr>
            <p:cNvSpPr txBox="1"/>
            <p:nvPr/>
          </p:nvSpPr>
          <p:spPr>
            <a:xfrm>
              <a:off x="5471560" y="3660731"/>
              <a:ext cx="282982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r>
                <a:rPr lang="en-US" altLang="ko-KR" sz="600" kern="1200" dirty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4.45</a:t>
              </a: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633F315D-BF5B-E9DD-0915-5709E77BE997}"/>
                </a:ext>
              </a:extLst>
            </p:cNvPr>
            <p:cNvSpPr txBox="1"/>
            <p:nvPr/>
          </p:nvSpPr>
          <p:spPr>
            <a:xfrm>
              <a:off x="5956844" y="3660731"/>
              <a:ext cx="282982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r>
                <a:rPr lang="en-US" altLang="ko-KR" sz="600" kern="1200" dirty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4.65</a:t>
              </a: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</p:grpSp>
      <p:sp>
        <p:nvSpPr>
          <p:cNvPr id="395" name="직사각형 394">
            <a:extLst>
              <a:ext uri="{FF2B5EF4-FFF2-40B4-BE49-F238E27FC236}">
                <a16:creationId xmlns:a16="http://schemas.microsoft.com/office/drawing/2014/main" id="{188C3EBB-1642-57FB-1001-6E5D6AF485C1}"/>
              </a:ext>
            </a:extLst>
          </p:cNvPr>
          <p:cNvSpPr/>
          <p:nvPr/>
        </p:nvSpPr>
        <p:spPr>
          <a:xfrm>
            <a:off x="7081712" y="2685976"/>
            <a:ext cx="1677660" cy="1088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kern="1200" dirty="0" err="1">
                <a:solidFill>
                  <a:schemeClr val="tx1"/>
                </a:solidFill>
                <a:latin typeface="+mn-ea"/>
              </a:rPr>
              <a:t>춘바에서</a:t>
            </a:r>
            <a:r>
              <a:rPr lang="ko-KR" altLang="en-US" sz="800" b="1" kern="1200" dirty="0">
                <a:solidFill>
                  <a:schemeClr val="tx1"/>
                </a:solidFill>
                <a:latin typeface="+mn-ea"/>
              </a:rPr>
              <a:t> 받은 김치유산균 </a:t>
            </a:r>
            <a:endParaRPr lang="en-US" altLang="ko-KR" sz="800" b="1" kern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800" b="1" kern="1200" dirty="0">
                <a:solidFill>
                  <a:schemeClr val="tx1"/>
                </a:solidFill>
                <a:latin typeface="+mn-ea"/>
              </a:rPr>
              <a:t>가이드라인 ↓</a:t>
            </a:r>
            <a:endParaRPr lang="en-US" altLang="ko-KR" sz="800" b="1" kern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399" name="그림 398">
            <a:extLst>
              <a:ext uri="{FF2B5EF4-FFF2-40B4-BE49-F238E27FC236}">
                <a16:creationId xmlns:a16="http://schemas.microsoft.com/office/drawing/2014/main" id="{D7F27EB4-8326-589A-2860-7643F961CF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6283" y="3822576"/>
            <a:ext cx="2228517" cy="158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796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>
          <a:extLst>
            <a:ext uri="{FF2B5EF4-FFF2-40B4-BE49-F238E27FC236}">
              <a16:creationId xmlns:a16="http://schemas.microsoft.com/office/drawing/2014/main" id="{B8059CE0-C73E-0F73-AF9B-731EEAD69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1">
            <a:extLst>
              <a:ext uri="{FF2B5EF4-FFF2-40B4-BE49-F238E27FC236}">
                <a16:creationId xmlns:a16="http://schemas.microsoft.com/office/drawing/2014/main" id="{D02330CF-CF44-ECCF-3D6D-6B45B88640D9}"/>
              </a:ext>
            </a:extLst>
          </p:cNvPr>
          <p:cNvSpPr txBox="1"/>
          <p:nvPr/>
        </p:nvSpPr>
        <p:spPr>
          <a:xfrm>
            <a:off x="797425" y="193050"/>
            <a:ext cx="1551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r>
              <a:rPr lang="ko-KR" altLang="en-US" sz="700" dirty="0">
                <a:solidFill>
                  <a:schemeClr val="dk1"/>
                </a:solidFill>
              </a:rPr>
              <a:t>시뮬레이션</a:t>
            </a:r>
            <a:endParaRPr sz="700" dirty="0">
              <a:solidFill>
                <a:schemeClr val="dk1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397" name="Google Shape;397;p31">
            <a:extLst>
              <a:ext uri="{FF2B5EF4-FFF2-40B4-BE49-F238E27FC236}">
                <a16:creationId xmlns:a16="http://schemas.microsoft.com/office/drawing/2014/main" id="{015561AB-E302-C233-3CED-6569D530FD5D}"/>
              </a:ext>
            </a:extLst>
          </p:cNvPr>
          <p:cNvSpPr txBox="1"/>
          <p:nvPr/>
        </p:nvSpPr>
        <p:spPr>
          <a:xfrm>
            <a:off x="5848375" y="193050"/>
            <a:ext cx="1373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pPr>
              <a:buSzPts val="800"/>
            </a:pPr>
            <a:r>
              <a:rPr lang="en-US" altLang="ko-KR" sz="700" dirty="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-</a:t>
            </a:r>
            <a:endParaRPr sz="700" dirty="0"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400" name="Google Shape;400;p31">
            <a:extLst>
              <a:ext uri="{FF2B5EF4-FFF2-40B4-BE49-F238E27FC236}">
                <a16:creationId xmlns:a16="http://schemas.microsoft.com/office/drawing/2014/main" id="{093DE256-8CED-567D-4692-D9998399E6F0}"/>
              </a:ext>
            </a:extLst>
          </p:cNvPr>
          <p:cNvSpPr txBox="1"/>
          <p:nvPr/>
        </p:nvSpPr>
        <p:spPr>
          <a:xfrm>
            <a:off x="7871326" y="193050"/>
            <a:ext cx="1134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altLang="ko" sz="700" dirty="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2025.0</a:t>
            </a:r>
            <a:r>
              <a:rPr lang="en-US" altLang="ko-KR" sz="700" dirty="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9.24</a:t>
            </a:r>
            <a:endParaRPr sz="700" dirty="0">
              <a:solidFill>
                <a:schemeClr val="dk1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32B9865-6B7E-D35C-FCB9-B36A01249447}"/>
              </a:ext>
            </a:extLst>
          </p:cNvPr>
          <p:cNvGraphicFramePr>
            <a:graphicFrameLocks noGrp="1"/>
          </p:cNvGraphicFramePr>
          <p:nvPr/>
        </p:nvGraphicFramePr>
        <p:xfrm>
          <a:off x="6777710" y="510828"/>
          <a:ext cx="2228517" cy="19847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55">
                  <a:extLst>
                    <a:ext uri="{9D8B030D-6E8A-4147-A177-3AD203B41FA5}">
                      <a16:colId xmlns:a16="http://schemas.microsoft.com/office/drawing/2014/main" val="1649533771"/>
                    </a:ext>
                  </a:extLst>
                </a:gridCol>
                <a:gridCol w="1935362">
                  <a:extLst>
                    <a:ext uri="{9D8B030D-6E8A-4147-A177-3AD203B41FA5}">
                      <a16:colId xmlns:a16="http://schemas.microsoft.com/office/drawing/2014/main" val="1453130143"/>
                    </a:ext>
                  </a:extLst>
                </a:gridCol>
              </a:tblGrid>
              <a:tr h="181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u="none" strike="noStrike" cap="non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화면 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977616065"/>
                  </a:ext>
                </a:extLst>
              </a:tr>
              <a:tr h="181728">
                <a:tc gridSpan="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687718"/>
                  </a:ext>
                </a:extLst>
              </a:tr>
              <a:tr h="181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7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41008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 Medium"/>
                          <a:sym typeface="Gothic A1 Medium"/>
                        </a:rPr>
                        <a:t>1</a:t>
                      </a:r>
                      <a:endParaRPr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600" b="1" i="0" u="none" strike="noStrike" cap="none" dirty="0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시뮬레이션 시작 버튼</a:t>
                      </a:r>
                    </a:p>
                    <a:p>
                      <a:pPr marL="133200" lvl="0" indent="-84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600"/>
                        <a:buFont typeface="Gothic A1"/>
                        <a:buChar char="-"/>
                      </a:pP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입력된 데이터를 토대로 시뮬레이션 진행</a:t>
                      </a: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43934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 Medium"/>
                          <a:sym typeface="Gothic A1 Medium"/>
                        </a:rPr>
                        <a:t>2</a:t>
                      </a:r>
                      <a:endParaRPr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600" b="1" i="0" u="none" strike="noStrike" cap="none" dirty="0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닫기 버튼</a:t>
                      </a:r>
                    </a:p>
                    <a:p>
                      <a:pPr marL="133200" lvl="0" indent="-84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600"/>
                        <a:buFont typeface="Gothic A1"/>
                        <a:buChar char="-"/>
                      </a:pP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팝업 닫기</a:t>
                      </a: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9426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6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+mn-ea"/>
                        <a:cs typeface="Gothic A1"/>
                        <a:sym typeface="Gothic A1"/>
                      </a:endParaRP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503632"/>
                  </a:ext>
                </a:extLst>
              </a:tr>
              <a:tr h="181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FFFF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필요사항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421113"/>
                  </a:ext>
                </a:extLst>
              </a:tr>
              <a:tr h="23872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각 수치 직접 입력</a:t>
                      </a: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"/>
                        <a:sym typeface="Gothic A1"/>
                      </a:endParaRP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942893"/>
                  </a:ext>
                </a:extLst>
              </a:tr>
            </a:tbl>
          </a:graphicData>
        </a:graphic>
      </p:graphicFrame>
      <p:sp>
        <p:nvSpPr>
          <p:cNvPr id="40" name="직사각형 39">
            <a:extLst>
              <a:ext uri="{FF2B5EF4-FFF2-40B4-BE49-F238E27FC236}">
                <a16:creationId xmlns:a16="http://schemas.microsoft.com/office/drawing/2014/main" id="{9637DB92-B44B-1A7C-632A-3A641F40630C}"/>
              </a:ext>
            </a:extLst>
          </p:cNvPr>
          <p:cNvSpPr/>
          <p:nvPr/>
        </p:nvSpPr>
        <p:spPr>
          <a:xfrm>
            <a:off x="195385" y="534809"/>
            <a:ext cx="6474216" cy="4776229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700" i="1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4" name="직사각형 393">
            <a:extLst>
              <a:ext uri="{FF2B5EF4-FFF2-40B4-BE49-F238E27FC236}">
                <a16:creationId xmlns:a16="http://schemas.microsoft.com/office/drawing/2014/main" id="{E1B21B62-F40B-40A9-315B-4E423D28416D}"/>
              </a:ext>
            </a:extLst>
          </p:cNvPr>
          <p:cNvSpPr/>
          <p:nvPr/>
        </p:nvSpPr>
        <p:spPr>
          <a:xfrm>
            <a:off x="151661" y="510828"/>
            <a:ext cx="6517939" cy="20930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7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endParaRPr lang="ko-KR" altLang="en-US" sz="7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135ED0A-3436-C6AF-70E1-B3EC98CF92B7}"/>
              </a:ext>
            </a:extLst>
          </p:cNvPr>
          <p:cNvSpPr/>
          <p:nvPr/>
        </p:nvSpPr>
        <p:spPr>
          <a:xfrm>
            <a:off x="384628" y="878114"/>
            <a:ext cx="6204857" cy="4326058"/>
          </a:xfrm>
          <a:prstGeom prst="roundRect">
            <a:avLst>
              <a:gd name="adj" fmla="val 1011"/>
            </a:avLst>
          </a:prstGeom>
          <a:solidFill>
            <a:schemeClr val="bg1"/>
          </a:solidFill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7FDE9CF-77AD-E26F-189F-5B18C9C87077}"/>
              </a:ext>
            </a:extLst>
          </p:cNvPr>
          <p:cNvSpPr/>
          <p:nvPr/>
        </p:nvSpPr>
        <p:spPr>
          <a:xfrm>
            <a:off x="2496457" y="997334"/>
            <a:ext cx="1872072" cy="199975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7KL </a:t>
            </a:r>
            <a:r>
              <a:rPr lang="ko-KR" altLang="en-US" sz="10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발효시스템 시뮬레이션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B8D39012-6DCE-59B5-0A52-142E25AB8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34121"/>
              </p:ext>
            </p:extLst>
          </p:nvPr>
        </p:nvGraphicFramePr>
        <p:xfrm>
          <a:off x="653606" y="1364220"/>
          <a:ext cx="5729001" cy="3223200"/>
        </p:xfrm>
        <a:graphic>
          <a:graphicData uri="http://schemas.openxmlformats.org/drawingml/2006/table">
            <a:tbl>
              <a:tblPr>
                <a:tableStyleId>{0AC2C297-DBA1-4DD1-99DE-D7A8A66B7A42}</a:tableStyleId>
              </a:tblPr>
              <a:tblGrid>
                <a:gridCol w="961221">
                  <a:extLst>
                    <a:ext uri="{9D8B030D-6E8A-4147-A177-3AD203B41FA5}">
                      <a16:colId xmlns:a16="http://schemas.microsoft.com/office/drawing/2014/main" val="757650759"/>
                    </a:ext>
                  </a:extLst>
                </a:gridCol>
                <a:gridCol w="646435">
                  <a:extLst>
                    <a:ext uri="{9D8B030D-6E8A-4147-A177-3AD203B41FA5}">
                      <a16:colId xmlns:a16="http://schemas.microsoft.com/office/drawing/2014/main" val="3436574305"/>
                    </a:ext>
                  </a:extLst>
                </a:gridCol>
                <a:gridCol w="32567">
                  <a:extLst>
                    <a:ext uri="{9D8B030D-6E8A-4147-A177-3AD203B41FA5}">
                      <a16:colId xmlns:a16="http://schemas.microsoft.com/office/drawing/2014/main" val="2732250179"/>
                    </a:ext>
                  </a:extLst>
                </a:gridCol>
                <a:gridCol w="727943">
                  <a:extLst>
                    <a:ext uri="{9D8B030D-6E8A-4147-A177-3AD203B41FA5}">
                      <a16:colId xmlns:a16="http://schemas.microsoft.com/office/drawing/2014/main" val="3920047235"/>
                    </a:ext>
                  </a:extLst>
                </a:gridCol>
                <a:gridCol w="809450">
                  <a:extLst>
                    <a:ext uri="{9D8B030D-6E8A-4147-A177-3AD203B41FA5}">
                      <a16:colId xmlns:a16="http://schemas.microsoft.com/office/drawing/2014/main" val="3562253053"/>
                    </a:ext>
                  </a:extLst>
                </a:gridCol>
                <a:gridCol w="691406">
                  <a:extLst>
                    <a:ext uri="{9D8B030D-6E8A-4147-A177-3AD203B41FA5}">
                      <a16:colId xmlns:a16="http://schemas.microsoft.com/office/drawing/2014/main" val="230696561"/>
                    </a:ext>
                  </a:extLst>
                </a:gridCol>
                <a:gridCol w="809450">
                  <a:extLst>
                    <a:ext uri="{9D8B030D-6E8A-4147-A177-3AD203B41FA5}">
                      <a16:colId xmlns:a16="http://schemas.microsoft.com/office/drawing/2014/main" val="2884640371"/>
                    </a:ext>
                  </a:extLst>
                </a:gridCol>
                <a:gridCol w="119896">
                  <a:extLst>
                    <a:ext uri="{9D8B030D-6E8A-4147-A177-3AD203B41FA5}">
                      <a16:colId xmlns:a16="http://schemas.microsoft.com/office/drawing/2014/main" val="3193155581"/>
                    </a:ext>
                  </a:extLst>
                </a:gridCol>
                <a:gridCol w="369146">
                  <a:extLst>
                    <a:ext uri="{9D8B030D-6E8A-4147-A177-3AD203B41FA5}">
                      <a16:colId xmlns:a16="http://schemas.microsoft.com/office/drawing/2014/main" val="3329435999"/>
                    </a:ext>
                  </a:extLst>
                </a:gridCol>
                <a:gridCol w="118800">
                  <a:extLst>
                    <a:ext uri="{9D8B030D-6E8A-4147-A177-3AD203B41FA5}">
                      <a16:colId xmlns:a16="http://schemas.microsoft.com/office/drawing/2014/main" val="2991319323"/>
                    </a:ext>
                  </a:extLst>
                </a:gridCol>
                <a:gridCol w="442687">
                  <a:extLst>
                    <a:ext uri="{9D8B030D-6E8A-4147-A177-3AD203B41FA5}">
                      <a16:colId xmlns:a16="http://schemas.microsoft.com/office/drawing/2014/main" val="3224767509"/>
                    </a:ext>
                  </a:extLst>
                </a:gridCol>
              </a:tblGrid>
              <a:tr h="189600">
                <a:tc gridSpan="1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1. </a:t>
                      </a:r>
                      <a:r>
                        <a:rPr lang="ko-KR" altLang="en-US" sz="700" b="1" u="none" strike="noStrike" dirty="0">
                          <a:effectLst/>
                        </a:rPr>
                        <a:t>원료상태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664023"/>
                  </a:ext>
                </a:extLst>
              </a:tr>
              <a:tr h="189600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배지명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상수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500L</a:t>
                      </a: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>
                          <a:effectLst/>
                        </a:rPr>
                        <a:t>액체배지</a:t>
                      </a:r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r>
                        <a:rPr lang="ko-KR" altLang="en-US" sz="7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>
                          <a:effectLst/>
                        </a:rPr>
                        <a:t>직전 공명관 진행일</a:t>
                      </a:r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2999139"/>
                  </a:ext>
                </a:extLst>
              </a:tr>
              <a:tr h="189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분말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21kg</a:t>
                      </a: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별도살균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포도당</a:t>
                      </a:r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20kg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>
                          <a:effectLst/>
                        </a:rPr>
                        <a:t>입고일자</a:t>
                      </a:r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rowSpan="2"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6999427"/>
                  </a:ext>
                </a:extLst>
              </a:tr>
              <a:tr h="1896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추출액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4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2204539"/>
                  </a:ext>
                </a:extLst>
              </a:tr>
              <a:tr h="189600">
                <a:tc gridSpan="11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2. </a:t>
                      </a:r>
                      <a:r>
                        <a:rPr lang="ko-KR" altLang="en-US" sz="700" b="1" u="none" strike="noStrike" dirty="0">
                          <a:effectLst/>
                        </a:rPr>
                        <a:t>작업내용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8078116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배양일자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시작일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종료일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5114734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균주명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 유산균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배양 </a:t>
                      </a:r>
                      <a:r>
                        <a:rPr lang="en-US" sz="700" b="1" u="none" strike="noStrike" dirty="0">
                          <a:effectLst/>
                        </a:rPr>
                        <a:t>Volume(ℓ)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500L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981284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1" u="none" strike="noStrike" dirty="0">
                          <a:effectLst/>
                        </a:rPr>
                        <a:t>배지투입시각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14:00</a:t>
                      </a: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탱크내부압력</a:t>
                      </a: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(PS)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852272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배지멸균온도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121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˚</a:t>
                      </a: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배지멸균시간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15m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배지멸균종료시각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15:30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7360340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거품 발생여부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안티폼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20ml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TANK </a:t>
                      </a:r>
                      <a:r>
                        <a:rPr lang="ko-KR" altLang="en-US" sz="700" b="1" u="none" strike="noStrike" dirty="0">
                          <a:effectLst/>
                        </a:rPr>
                        <a:t>투입 </a:t>
                      </a:r>
                      <a:r>
                        <a:rPr lang="ko-KR" altLang="en-US" sz="700" b="1" u="none" strike="noStrike" dirty="0" err="1">
                          <a:effectLst/>
                        </a:rPr>
                        <a:t>안티폼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9034721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>
                          <a:effectLst/>
                        </a:rPr>
                        <a:t>Air Volume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</a:t>
                      </a: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v/v/m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      </a:t>
                      </a:r>
                      <a:r>
                        <a:rPr lang="en-US" altLang="ko-KR" sz="700" b="1" i="0" u="none" strike="noStrike" cap="non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Arial"/>
                          <a:sym typeface="Arial"/>
                        </a:rPr>
                        <a:t>l/m</a:t>
                      </a:r>
                    </a:p>
                  </a:txBody>
                  <a:tcPr marL="7167" marR="36000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보정 </a:t>
                      </a:r>
                      <a:r>
                        <a:rPr lang="en-US" sz="700" b="1" u="none" strike="noStrike" dirty="0">
                          <a:effectLst/>
                        </a:rPr>
                        <a:t>TANK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접종일 </a:t>
                      </a:r>
                      <a:r>
                        <a:rPr lang="en-US" altLang="ko-KR" sz="700" b="1" u="none" strike="noStrike" dirty="0">
                          <a:effectLst/>
                        </a:rPr>
                        <a:t>18</a:t>
                      </a:r>
                      <a:r>
                        <a:rPr lang="ko-KR" altLang="en-US" sz="700" b="1" u="none" strike="noStrike" dirty="0">
                          <a:effectLst/>
                        </a:rPr>
                        <a:t>시 </a:t>
                      </a:r>
                      <a:r>
                        <a:rPr lang="en-US" sz="700" b="1" u="none" strike="noStrike" dirty="0">
                          <a:effectLst/>
                        </a:rPr>
                        <a:t>pH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848449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>
                          <a:effectLst/>
                        </a:rPr>
                        <a:t>배양 </a:t>
                      </a:r>
                      <a:r>
                        <a:rPr lang="en-US" sz="700" b="1" u="none" strike="noStrike">
                          <a:effectLst/>
                        </a:rPr>
                        <a:t>RPM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            rpm   </a:t>
                      </a:r>
                    </a:p>
                  </a:txBody>
                  <a:tcPr marL="36000" marR="72000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배지 투입 </a:t>
                      </a:r>
                      <a:r>
                        <a:rPr lang="en-US" sz="700" b="1" u="none" strike="noStrike" dirty="0">
                          <a:effectLst/>
                        </a:rPr>
                        <a:t>pH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익일 </a:t>
                      </a:r>
                      <a:r>
                        <a:rPr lang="en-US" altLang="ko-KR" sz="700" b="1" u="none" strike="noStrike" dirty="0">
                          <a:effectLst/>
                        </a:rPr>
                        <a:t>09</a:t>
                      </a:r>
                      <a:r>
                        <a:rPr lang="ko-KR" altLang="en-US" sz="700" b="1" u="none" strike="noStrike" dirty="0">
                          <a:effectLst/>
                        </a:rPr>
                        <a:t>시 </a:t>
                      </a:r>
                      <a:r>
                        <a:rPr lang="en-US" sz="700" b="1" u="none" strike="noStrike" dirty="0">
                          <a:effectLst/>
                        </a:rPr>
                        <a:t>pH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546464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배양온도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               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˚</a:t>
                      </a: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</a:p>
                  </a:txBody>
                  <a:tcPr marL="7167" marR="72000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배지 냉각 </a:t>
                      </a:r>
                      <a:r>
                        <a:rPr lang="en-US" sz="700" b="1" u="none" strike="noStrike" dirty="0">
                          <a:effectLst/>
                        </a:rPr>
                        <a:t>pH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보정 </a:t>
                      </a:r>
                      <a:r>
                        <a:rPr lang="en-US" sz="700" b="1" u="none" strike="noStrike" dirty="0">
                          <a:effectLst/>
                        </a:rPr>
                        <a:t>pH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279549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 err="1">
                          <a:effectLst/>
                        </a:rPr>
                        <a:t>질소포징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배지 접종 </a:t>
                      </a:r>
                      <a:r>
                        <a:rPr lang="en-US" sz="700" b="1" u="none" strike="noStrike" dirty="0">
                          <a:effectLst/>
                        </a:rPr>
                        <a:t>pH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pH </a:t>
                      </a:r>
                      <a:r>
                        <a:rPr lang="ko-KR" altLang="en-US" sz="700" b="1" u="none" strike="noStrike" dirty="0">
                          <a:effectLst/>
                        </a:rPr>
                        <a:t>보정 인터벌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1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3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211895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접종시각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17:00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700" b="1" u="none" strike="noStrike" dirty="0">
                          <a:effectLst/>
                        </a:rPr>
                        <a:t>DO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2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1" u="none" strike="noStrike" dirty="0">
                          <a:effectLst/>
                        </a:rPr>
                        <a:t>4</a:t>
                      </a: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682646"/>
                  </a:ext>
                </a:extLst>
              </a:tr>
              <a:tr h="1896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야간 모니터링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접종일 </a:t>
                      </a:r>
                      <a:r>
                        <a:rPr lang="en-US" altLang="ko-KR" sz="700" b="1" u="none" strike="noStrike" dirty="0">
                          <a:effectLst/>
                        </a:rPr>
                        <a:t>18</a:t>
                      </a:r>
                      <a:r>
                        <a:rPr lang="ko-KR" altLang="en-US" sz="700" b="1" u="none" strike="noStrike" dirty="0">
                          <a:effectLst/>
                        </a:rPr>
                        <a:t>시 </a:t>
                      </a:r>
                      <a:r>
                        <a:rPr lang="en-US" sz="700" b="1" u="none" strike="noStrike" dirty="0">
                          <a:effectLst/>
                        </a:rPr>
                        <a:t>DO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 dirty="0">
                          <a:effectLst/>
                        </a:rPr>
                        <a:t>추가작업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>
                          <a:effectLst/>
                        </a:rPr>
                        <a:t>가열</a:t>
                      </a:r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x</a:t>
                      </a: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593669"/>
                  </a:ext>
                </a:extLst>
              </a:tr>
              <a:tr h="189600">
                <a:tc gridSpan="4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>
                          <a:effectLst/>
                        </a:rPr>
                        <a:t>익일 </a:t>
                      </a:r>
                      <a:r>
                        <a:rPr lang="en-US" altLang="ko-KR" sz="700" b="1" u="none" strike="noStrike">
                          <a:effectLst/>
                        </a:rPr>
                        <a:t>09</a:t>
                      </a:r>
                      <a:r>
                        <a:rPr lang="ko-KR" altLang="en-US" sz="700" b="1" u="none" strike="noStrike">
                          <a:effectLst/>
                        </a:rPr>
                        <a:t>시 </a:t>
                      </a:r>
                      <a:r>
                        <a:rPr lang="en-US" sz="700" b="1" u="none" strike="noStrike">
                          <a:effectLst/>
                        </a:rPr>
                        <a:t>DO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</a:t>
                      </a: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700" b="1" u="none" strike="noStrike">
                          <a:effectLst/>
                        </a:rPr>
                        <a:t>냉각</a:t>
                      </a:r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7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O</a:t>
                      </a:r>
                      <a:r>
                        <a:rPr lang="ko-KR" altLang="en-US" sz="700" b="0" u="none" strike="noStrike" dirty="0">
                          <a:solidFill>
                            <a:srgbClr val="FF0000"/>
                          </a:solidFill>
                          <a:effectLst/>
                        </a:rPr>
                        <a:t>　</a:t>
                      </a:r>
                      <a:endParaRPr lang="ko-KR" altLang="en-US" sz="7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167" marR="7167" marT="7167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562881"/>
                  </a:ext>
                </a:extLst>
              </a:tr>
            </a:tbl>
          </a:graphicData>
        </a:graphic>
      </p:graphicFrame>
      <p:grpSp>
        <p:nvGrpSpPr>
          <p:cNvPr id="16" name="그룹 15">
            <a:extLst>
              <a:ext uri="{FF2B5EF4-FFF2-40B4-BE49-F238E27FC236}">
                <a16:creationId xmlns:a16="http://schemas.microsoft.com/office/drawing/2014/main" id="{A05A2B58-89B6-44F6-91C4-C0E0EE9F7A50}"/>
              </a:ext>
            </a:extLst>
          </p:cNvPr>
          <p:cNvGrpSpPr/>
          <p:nvPr/>
        </p:nvGrpSpPr>
        <p:grpSpPr>
          <a:xfrm>
            <a:off x="2558736" y="2326363"/>
            <a:ext cx="1074779" cy="146860"/>
            <a:chOff x="7333936" y="3262534"/>
            <a:chExt cx="1074779" cy="14686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125F801-B6ED-CEFC-5050-0E5AE4701781}"/>
                </a:ext>
              </a:extLst>
            </p:cNvPr>
            <p:cNvSpPr txBox="1"/>
            <p:nvPr/>
          </p:nvSpPr>
          <p:spPr>
            <a:xfrm>
              <a:off x="7333936" y="3262534"/>
              <a:ext cx="107477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defTabSz="685772" latinLnBrk="1">
                <a:buClrTx/>
                <a:defRPr/>
              </a:pP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연도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월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일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시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분</a:t>
              </a:r>
            </a:p>
          </p:txBody>
        </p:sp>
        <p:pic>
          <p:nvPicPr>
            <p:cNvPr id="15" name="그래픽 14" descr="플립 달력">
              <a:extLst>
                <a:ext uri="{FF2B5EF4-FFF2-40B4-BE49-F238E27FC236}">
                  <a16:creationId xmlns:a16="http://schemas.microsoft.com/office/drawing/2014/main" id="{C0B0D736-5118-E3AD-3119-7F3E976A28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40273" y="3272259"/>
              <a:ext cx="123564" cy="123564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416CB53-9563-2147-91E2-488A8B11E24B}"/>
              </a:ext>
            </a:extLst>
          </p:cNvPr>
          <p:cNvGrpSpPr/>
          <p:nvPr/>
        </p:nvGrpSpPr>
        <p:grpSpPr>
          <a:xfrm>
            <a:off x="5031371" y="2326363"/>
            <a:ext cx="1074779" cy="146860"/>
            <a:chOff x="7333936" y="3262534"/>
            <a:chExt cx="1074779" cy="14686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CA76657-E791-5DE7-59A0-BCDA51BECA83}"/>
                </a:ext>
              </a:extLst>
            </p:cNvPr>
            <p:cNvSpPr txBox="1"/>
            <p:nvPr/>
          </p:nvSpPr>
          <p:spPr>
            <a:xfrm>
              <a:off x="7333936" y="3262534"/>
              <a:ext cx="107477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defTabSz="685772" latinLnBrk="1">
                <a:buClrTx/>
                <a:defRPr/>
              </a:pP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연도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월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일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시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분</a:t>
              </a:r>
            </a:p>
          </p:txBody>
        </p:sp>
        <p:pic>
          <p:nvPicPr>
            <p:cNvPr id="19" name="그래픽 18" descr="플립 달력">
              <a:extLst>
                <a:ext uri="{FF2B5EF4-FFF2-40B4-BE49-F238E27FC236}">
                  <a16:creationId xmlns:a16="http://schemas.microsoft.com/office/drawing/2014/main" id="{AD3D9038-DF67-20B7-267C-CF8214A2C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40273" y="3272259"/>
              <a:ext cx="123564" cy="123564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2DC5E053-75D3-7163-3DE4-692A988B9085}"/>
              </a:ext>
            </a:extLst>
          </p:cNvPr>
          <p:cNvGrpSpPr/>
          <p:nvPr/>
        </p:nvGrpSpPr>
        <p:grpSpPr>
          <a:xfrm>
            <a:off x="5391287" y="1574575"/>
            <a:ext cx="939663" cy="146860"/>
            <a:chOff x="7333936" y="3262534"/>
            <a:chExt cx="1074779" cy="146860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C62A9A1-A5D3-014F-5216-4C9AEC2F7E98}"/>
                </a:ext>
              </a:extLst>
            </p:cNvPr>
            <p:cNvSpPr txBox="1"/>
            <p:nvPr/>
          </p:nvSpPr>
          <p:spPr>
            <a:xfrm>
              <a:off x="7333936" y="3262534"/>
              <a:ext cx="107477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defTabSz="685772" latinLnBrk="1">
                <a:buClrTx/>
                <a:defRPr/>
              </a:pP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연도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월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일</a:t>
              </a:r>
            </a:p>
          </p:txBody>
        </p:sp>
        <p:pic>
          <p:nvPicPr>
            <p:cNvPr id="22" name="그래픽 21" descr="플립 달력">
              <a:extLst>
                <a:ext uri="{FF2B5EF4-FFF2-40B4-BE49-F238E27FC236}">
                  <a16:creationId xmlns:a16="http://schemas.microsoft.com/office/drawing/2014/main" id="{0E21E3D1-B632-F2CF-F336-149CC5D62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40273" y="3272259"/>
              <a:ext cx="123564" cy="123564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A0FB1544-487A-9C5D-0E9A-9423FB78C6DB}"/>
              </a:ext>
            </a:extLst>
          </p:cNvPr>
          <p:cNvGrpSpPr/>
          <p:nvPr/>
        </p:nvGrpSpPr>
        <p:grpSpPr>
          <a:xfrm>
            <a:off x="5394462" y="1850800"/>
            <a:ext cx="939663" cy="146860"/>
            <a:chOff x="7333936" y="3262534"/>
            <a:chExt cx="1074779" cy="146860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F3032D1-2700-27D4-D8B7-250DC6E25521}"/>
                </a:ext>
              </a:extLst>
            </p:cNvPr>
            <p:cNvSpPr txBox="1"/>
            <p:nvPr/>
          </p:nvSpPr>
          <p:spPr>
            <a:xfrm>
              <a:off x="7333936" y="3262534"/>
              <a:ext cx="107477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defTabSz="685772" latinLnBrk="1">
                <a:buClrTx/>
                <a:defRPr/>
              </a:pP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연도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월</a:t>
              </a:r>
              <a:r>
                <a:rPr lang="en-US" altLang="ko-KR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-</a:t>
              </a:r>
              <a:r>
                <a:rPr lang="ko-KR" altLang="en-US" sz="600" kern="1200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일</a:t>
              </a:r>
            </a:p>
          </p:txBody>
        </p:sp>
        <p:pic>
          <p:nvPicPr>
            <p:cNvPr id="25" name="그래픽 24" descr="플립 달력">
              <a:extLst>
                <a:ext uri="{FF2B5EF4-FFF2-40B4-BE49-F238E27FC236}">
                  <a16:creationId xmlns:a16="http://schemas.microsoft.com/office/drawing/2014/main" id="{EDBABDFF-158C-35F3-078A-184D03574F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40273" y="3272259"/>
              <a:ext cx="123564" cy="123564"/>
            </a:xfrm>
            <a:prstGeom prst="rect">
              <a:avLst/>
            </a:prstGeom>
          </p:spPr>
        </p:pic>
      </p:grp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E65E8DD-3686-D66D-20A9-A101DB4AA2BF}"/>
              </a:ext>
            </a:extLst>
          </p:cNvPr>
          <p:cNvSpPr/>
          <p:nvPr/>
        </p:nvSpPr>
        <p:spPr>
          <a:xfrm>
            <a:off x="5397659" y="4726522"/>
            <a:ext cx="988104" cy="276225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800" b="1" kern="1200" dirty="0">
                <a:solidFill>
                  <a:schemeClr val="tx1"/>
                </a:solidFill>
                <a:latin typeface="+mn-ea"/>
              </a:rPr>
              <a:t>시뮬레이션 시작</a:t>
            </a:r>
            <a:endParaRPr lang="en-US" altLang="ko-KR" sz="800" b="1" kern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A6202FD4-8B0F-BED7-6423-C706C953A2DA}"/>
              </a:ext>
            </a:extLst>
          </p:cNvPr>
          <p:cNvSpPr/>
          <p:nvPr/>
        </p:nvSpPr>
        <p:spPr>
          <a:xfrm>
            <a:off x="4260326" y="4726522"/>
            <a:ext cx="950025" cy="276225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800" b="1" kern="1200" dirty="0">
                <a:solidFill>
                  <a:schemeClr val="tx1"/>
                </a:solidFill>
                <a:latin typeface="+mn-ea"/>
              </a:rPr>
              <a:t>닫기</a:t>
            </a:r>
            <a:endParaRPr lang="en-US" altLang="ko-KR" sz="800" b="1" kern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Google Shape;208;p21">
            <a:extLst>
              <a:ext uri="{FF2B5EF4-FFF2-40B4-BE49-F238E27FC236}">
                <a16:creationId xmlns:a16="http://schemas.microsoft.com/office/drawing/2014/main" id="{7A0FA18E-07D6-4154-682E-E4D5137E5140}"/>
              </a:ext>
            </a:extLst>
          </p:cNvPr>
          <p:cNvSpPr/>
          <p:nvPr/>
        </p:nvSpPr>
        <p:spPr>
          <a:xfrm>
            <a:off x="4174888" y="4629446"/>
            <a:ext cx="173849" cy="189899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28575" dir="264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600" b="1" dirty="0">
                <a:latin typeface="Gothic A1"/>
                <a:ea typeface="Gothic A1"/>
                <a:cs typeface="Gothic A1"/>
                <a:sym typeface="Gothic A1"/>
              </a:rPr>
              <a:t>2</a:t>
            </a:r>
            <a:endParaRPr sz="600" b="1" dirty="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3" name="Google Shape;208;p21">
            <a:extLst>
              <a:ext uri="{FF2B5EF4-FFF2-40B4-BE49-F238E27FC236}">
                <a16:creationId xmlns:a16="http://schemas.microsoft.com/office/drawing/2014/main" id="{02724E0D-3A48-8625-31DB-53CF8A73BD12}"/>
              </a:ext>
            </a:extLst>
          </p:cNvPr>
          <p:cNvSpPr/>
          <p:nvPr/>
        </p:nvSpPr>
        <p:spPr>
          <a:xfrm>
            <a:off x="5322088" y="4646987"/>
            <a:ext cx="173849" cy="189899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28575" dir="264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600" b="1" dirty="0">
                <a:latin typeface="Gothic A1"/>
                <a:ea typeface="Gothic A1"/>
                <a:cs typeface="Gothic A1"/>
                <a:sym typeface="Gothic A1"/>
              </a:rPr>
              <a:t>1</a:t>
            </a:r>
            <a:endParaRPr sz="600" b="1" dirty="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36AAA2-A905-DCA1-2C65-16D0E75148A5}"/>
              </a:ext>
            </a:extLst>
          </p:cNvPr>
          <p:cNvSpPr/>
          <p:nvPr/>
        </p:nvSpPr>
        <p:spPr>
          <a:xfrm>
            <a:off x="7081712" y="2685976"/>
            <a:ext cx="1677660" cy="108821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kern="1200" dirty="0" err="1">
                <a:solidFill>
                  <a:schemeClr val="tx1"/>
                </a:solidFill>
                <a:latin typeface="+mn-ea"/>
              </a:rPr>
              <a:t>춘바에서</a:t>
            </a:r>
            <a:r>
              <a:rPr lang="ko-KR" altLang="en-US" sz="800" b="1" kern="1200" dirty="0">
                <a:solidFill>
                  <a:schemeClr val="tx1"/>
                </a:solidFill>
                <a:latin typeface="+mn-ea"/>
              </a:rPr>
              <a:t> 받은 </a:t>
            </a:r>
            <a:r>
              <a:rPr lang="en-US" altLang="ko-KR" sz="800" b="1" kern="1200" dirty="0">
                <a:solidFill>
                  <a:schemeClr val="tx1"/>
                </a:solidFill>
                <a:latin typeface="+mn-ea"/>
              </a:rPr>
              <a:t>N</a:t>
            </a:r>
            <a:r>
              <a:rPr lang="ko-KR" altLang="en-US" sz="800" b="1" kern="1200" dirty="0">
                <a:solidFill>
                  <a:schemeClr val="tx1"/>
                </a:solidFill>
                <a:latin typeface="+mn-ea"/>
              </a:rPr>
              <a:t>사 유산균 </a:t>
            </a:r>
            <a:endParaRPr lang="en-US" altLang="ko-KR" sz="800" b="1" kern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800" b="1" kern="1200" dirty="0">
                <a:solidFill>
                  <a:schemeClr val="tx1"/>
                </a:solidFill>
                <a:latin typeface="+mn-ea"/>
              </a:rPr>
              <a:t>가이드라인 ↓</a:t>
            </a:r>
            <a:endParaRPr lang="en-US" altLang="ko-KR" sz="800" b="1" kern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F60623-4C8C-4F15-7914-A18594E7AA67}"/>
              </a:ext>
            </a:extLst>
          </p:cNvPr>
          <p:cNvSpPr txBox="1"/>
          <p:nvPr/>
        </p:nvSpPr>
        <p:spPr>
          <a:xfrm>
            <a:off x="2373311" y="3283496"/>
            <a:ext cx="170771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r>
              <a:rPr lang="en-US" altLang="ko-KR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0</a:t>
            </a:r>
            <a:endParaRPr lang="ko-KR" altLang="en-US" sz="600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B5F125E-0FD3-1411-5A0B-372746A28D73}"/>
              </a:ext>
            </a:extLst>
          </p:cNvPr>
          <p:cNvSpPr txBox="1"/>
          <p:nvPr/>
        </p:nvSpPr>
        <p:spPr>
          <a:xfrm>
            <a:off x="2640012" y="3283496"/>
            <a:ext cx="160361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r>
              <a:rPr lang="en-US" altLang="ko-KR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5</a:t>
            </a:r>
            <a:endParaRPr lang="ko-KR" altLang="en-US" sz="600" kern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2F9953-D480-A8D7-ABD0-EE9D465ECFE5}"/>
              </a:ext>
            </a:extLst>
          </p:cNvPr>
          <p:cNvSpPr txBox="1"/>
          <p:nvPr/>
        </p:nvSpPr>
        <p:spPr>
          <a:xfrm>
            <a:off x="1957776" y="3468892"/>
            <a:ext cx="282982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r>
              <a:rPr lang="en-US" altLang="ko-KR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25</a:t>
            </a:r>
            <a:endParaRPr lang="ko-KR" altLang="en-US" sz="600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73D96F5-B7DB-41C4-DE3D-BA5CC1F60B52}"/>
              </a:ext>
            </a:extLst>
          </p:cNvPr>
          <p:cNvSpPr txBox="1"/>
          <p:nvPr/>
        </p:nvSpPr>
        <p:spPr>
          <a:xfrm>
            <a:off x="2443060" y="3468892"/>
            <a:ext cx="282982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r>
              <a:rPr lang="en-US" altLang="ko-KR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35</a:t>
            </a:r>
            <a:endParaRPr lang="ko-KR" altLang="en-US" sz="600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833747-6CC6-3EF8-430B-540031A276DC}"/>
              </a:ext>
            </a:extLst>
          </p:cNvPr>
          <p:cNvSpPr txBox="1"/>
          <p:nvPr/>
        </p:nvSpPr>
        <p:spPr>
          <a:xfrm>
            <a:off x="1957776" y="3660731"/>
            <a:ext cx="282982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r>
              <a:rPr lang="en-US" altLang="ko-KR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36.7</a:t>
            </a:r>
            <a:endParaRPr lang="ko-KR" altLang="en-US" sz="600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4367E4-B049-2A3C-7F02-87323C8AB0F5}"/>
              </a:ext>
            </a:extLst>
          </p:cNvPr>
          <p:cNvSpPr txBox="1"/>
          <p:nvPr/>
        </p:nvSpPr>
        <p:spPr>
          <a:xfrm>
            <a:off x="2443060" y="3660731"/>
            <a:ext cx="282982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r>
              <a:rPr lang="en-US" altLang="ko-KR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37.3</a:t>
            </a:r>
            <a:endParaRPr lang="ko-KR" altLang="en-US" sz="600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92FFD227-5ECD-B8D4-011C-49E68E43CA55}"/>
              </a:ext>
            </a:extLst>
          </p:cNvPr>
          <p:cNvGrpSpPr/>
          <p:nvPr/>
        </p:nvGrpSpPr>
        <p:grpSpPr>
          <a:xfrm>
            <a:off x="3879055" y="4041434"/>
            <a:ext cx="600796" cy="146860"/>
            <a:chOff x="3879055" y="4041434"/>
            <a:chExt cx="600796" cy="146860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0422CE7-BBC7-F8BA-41C5-4DE8B448D7A5}"/>
                </a:ext>
              </a:extLst>
            </p:cNvPr>
            <p:cNvSpPr txBox="1"/>
            <p:nvPr/>
          </p:nvSpPr>
          <p:spPr>
            <a:xfrm>
              <a:off x="3879055" y="40414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A95737E-6A08-BA5E-F2E3-958DCA824072}"/>
                </a:ext>
              </a:extLst>
            </p:cNvPr>
            <p:cNvSpPr txBox="1"/>
            <p:nvPr/>
          </p:nvSpPr>
          <p:spPr>
            <a:xfrm>
              <a:off x="4240122" y="40414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</p:grpSp>
      <p:grpSp>
        <p:nvGrpSpPr>
          <p:cNvPr id="387" name="그룹 386">
            <a:extLst>
              <a:ext uri="{FF2B5EF4-FFF2-40B4-BE49-F238E27FC236}">
                <a16:creationId xmlns:a16="http://schemas.microsoft.com/office/drawing/2014/main" id="{126F099D-2B6C-1674-AE3C-5098217296A1}"/>
              </a:ext>
            </a:extLst>
          </p:cNvPr>
          <p:cNvGrpSpPr/>
          <p:nvPr/>
        </p:nvGrpSpPr>
        <p:grpSpPr>
          <a:xfrm>
            <a:off x="5471560" y="3660731"/>
            <a:ext cx="768266" cy="146860"/>
            <a:chOff x="5471560" y="3660731"/>
            <a:chExt cx="768266" cy="146860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43195F4-E6D5-F11C-F385-C43FBE6B39B0}"/>
                </a:ext>
              </a:extLst>
            </p:cNvPr>
            <p:cNvSpPr txBox="1"/>
            <p:nvPr/>
          </p:nvSpPr>
          <p:spPr>
            <a:xfrm>
              <a:off x="5471560" y="3660731"/>
              <a:ext cx="282982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r>
                <a:rPr lang="en-US" altLang="ko-KR" sz="600" kern="1200" dirty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5.45</a:t>
              </a: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E5EDA9A-81AC-F9C3-34A9-9ED48E8863D2}"/>
                </a:ext>
              </a:extLst>
            </p:cNvPr>
            <p:cNvSpPr txBox="1"/>
            <p:nvPr/>
          </p:nvSpPr>
          <p:spPr>
            <a:xfrm>
              <a:off x="5956844" y="3660731"/>
              <a:ext cx="282982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r>
                <a:rPr lang="en-US" altLang="ko-KR" sz="600" kern="1200" dirty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5.85</a:t>
              </a: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8E616876-C1ED-F00B-637F-38A33B0E28CA}"/>
              </a:ext>
            </a:extLst>
          </p:cNvPr>
          <p:cNvSpPr txBox="1"/>
          <p:nvPr/>
        </p:nvSpPr>
        <p:spPr>
          <a:xfrm>
            <a:off x="5114677" y="2710640"/>
            <a:ext cx="282982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r>
              <a:rPr lang="en-US" altLang="ko-KR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0.25</a:t>
            </a:r>
            <a:endParaRPr lang="ko-KR" altLang="en-US" sz="600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A7CA67-FA03-ECF8-5E47-80FC44888F94}"/>
              </a:ext>
            </a:extLst>
          </p:cNvPr>
          <p:cNvSpPr txBox="1"/>
          <p:nvPr/>
        </p:nvSpPr>
        <p:spPr>
          <a:xfrm>
            <a:off x="5599961" y="2710640"/>
            <a:ext cx="282982" cy="1468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27000" tIns="27000" rIns="27000" bIns="27000" rtlCol="0" anchor="ctr">
            <a:spAutoFit/>
          </a:bodyPr>
          <a:lstStyle/>
          <a:p>
            <a:pPr algn="ctr" defTabSz="685772" latinLnBrk="1">
              <a:buClrTx/>
              <a:defRPr/>
            </a:pPr>
            <a:r>
              <a:rPr lang="en-US" altLang="ko-KR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rPr>
              <a:t>0.35</a:t>
            </a:r>
            <a:endParaRPr lang="ko-KR" altLang="en-US" sz="600" kern="1200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A76F0B25-D4CE-81C3-C2BF-77776E141489}"/>
              </a:ext>
            </a:extLst>
          </p:cNvPr>
          <p:cNvGrpSpPr/>
          <p:nvPr/>
        </p:nvGrpSpPr>
        <p:grpSpPr>
          <a:xfrm>
            <a:off x="3879055" y="3469934"/>
            <a:ext cx="600796" cy="146860"/>
            <a:chOff x="3882230" y="3469934"/>
            <a:chExt cx="600796" cy="14686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7FBF0B4-3CC8-6363-918C-A25EEDF75C73}"/>
                </a:ext>
              </a:extLst>
            </p:cNvPr>
            <p:cNvSpPr txBox="1"/>
            <p:nvPr/>
          </p:nvSpPr>
          <p:spPr>
            <a:xfrm>
              <a:off x="3882230" y="34699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r>
                <a:rPr lang="en-US" altLang="ko-KR" sz="600" kern="1200" dirty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6.20</a:t>
              </a: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ADA2C8F-4C7D-07B1-F56D-9DCC52ED24BE}"/>
                </a:ext>
              </a:extLst>
            </p:cNvPr>
            <p:cNvSpPr txBox="1"/>
            <p:nvPr/>
          </p:nvSpPr>
          <p:spPr>
            <a:xfrm>
              <a:off x="4243297" y="34699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r>
                <a:rPr lang="en-US" altLang="ko-KR" sz="600" kern="1200" dirty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7.90</a:t>
              </a: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50B734DD-BD6B-C582-04B5-B46D6BDA08A8}"/>
              </a:ext>
            </a:extLst>
          </p:cNvPr>
          <p:cNvGrpSpPr/>
          <p:nvPr/>
        </p:nvGrpSpPr>
        <p:grpSpPr>
          <a:xfrm>
            <a:off x="3879055" y="3660434"/>
            <a:ext cx="600796" cy="146860"/>
            <a:chOff x="3882230" y="3469934"/>
            <a:chExt cx="600796" cy="146860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DC60D55-919F-EEDC-FDE7-B663CFD3B0A3}"/>
                </a:ext>
              </a:extLst>
            </p:cNvPr>
            <p:cNvSpPr txBox="1"/>
            <p:nvPr/>
          </p:nvSpPr>
          <p:spPr>
            <a:xfrm>
              <a:off x="3882230" y="34699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0C1C8C5-9A68-DA57-5C6B-AD287211C3FC}"/>
                </a:ext>
              </a:extLst>
            </p:cNvPr>
            <p:cNvSpPr txBox="1"/>
            <p:nvPr/>
          </p:nvSpPr>
          <p:spPr>
            <a:xfrm>
              <a:off x="4243297" y="34699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endParaRPr lang="ko-KR" altLang="en-US" sz="600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</p:grpSp>
      <p:grpSp>
        <p:nvGrpSpPr>
          <p:cNvPr id="384" name="그룹 383">
            <a:extLst>
              <a:ext uri="{FF2B5EF4-FFF2-40B4-BE49-F238E27FC236}">
                <a16:creationId xmlns:a16="http://schemas.microsoft.com/office/drawing/2014/main" id="{44F27066-A35C-F98E-BC05-3ED1162F2B39}"/>
              </a:ext>
            </a:extLst>
          </p:cNvPr>
          <p:cNvGrpSpPr/>
          <p:nvPr/>
        </p:nvGrpSpPr>
        <p:grpSpPr>
          <a:xfrm>
            <a:off x="3879055" y="3850934"/>
            <a:ext cx="600796" cy="146860"/>
            <a:chOff x="3882230" y="3469934"/>
            <a:chExt cx="600796" cy="146860"/>
          </a:xfrm>
        </p:grpSpPr>
        <p:sp>
          <p:nvSpPr>
            <p:cNvPr id="385" name="TextBox 384">
              <a:extLst>
                <a:ext uri="{FF2B5EF4-FFF2-40B4-BE49-F238E27FC236}">
                  <a16:creationId xmlns:a16="http://schemas.microsoft.com/office/drawing/2014/main" id="{EA231005-DDE8-46B5-B09A-5ACCCBAC12FD}"/>
                </a:ext>
              </a:extLst>
            </p:cNvPr>
            <p:cNvSpPr txBox="1"/>
            <p:nvPr/>
          </p:nvSpPr>
          <p:spPr>
            <a:xfrm>
              <a:off x="3882230" y="34699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r>
                <a:rPr lang="en-US" altLang="ko-KR" sz="600" kern="1200" dirty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6.25</a:t>
              </a: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F6FFA43E-0B9F-E07F-151B-80FF2525A518}"/>
                </a:ext>
              </a:extLst>
            </p:cNvPr>
            <p:cNvSpPr txBox="1"/>
            <p:nvPr/>
          </p:nvSpPr>
          <p:spPr>
            <a:xfrm>
              <a:off x="4243297" y="3469934"/>
              <a:ext cx="239729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r>
                <a:rPr lang="en-US" altLang="ko-KR" sz="600" kern="1200" dirty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7.30</a:t>
              </a: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</p:grpSp>
      <p:grpSp>
        <p:nvGrpSpPr>
          <p:cNvPr id="388" name="그룹 387">
            <a:extLst>
              <a:ext uri="{FF2B5EF4-FFF2-40B4-BE49-F238E27FC236}">
                <a16:creationId xmlns:a16="http://schemas.microsoft.com/office/drawing/2014/main" id="{F0138D8F-F941-11E1-5FB5-87A4B505D547}"/>
              </a:ext>
            </a:extLst>
          </p:cNvPr>
          <p:cNvGrpSpPr/>
          <p:nvPr/>
        </p:nvGrpSpPr>
        <p:grpSpPr>
          <a:xfrm>
            <a:off x="5471560" y="3279156"/>
            <a:ext cx="768266" cy="146860"/>
            <a:chOff x="5471560" y="3660731"/>
            <a:chExt cx="768266" cy="146860"/>
          </a:xfrm>
        </p:grpSpPr>
        <p:sp>
          <p:nvSpPr>
            <p:cNvPr id="389" name="TextBox 388">
              <a:extLst>
                <a:ext uri="{FF2B5EF4-FFF2-40B4-BE49-F238E27FC236}">
                  <a16:creationId xmlns:a16="http://schemas.microsoft.com/office/drawing/2014/main" id="{715D618D-2D59-4097-CF31-E2DDAC1A2F82}"/>
                </a:ext>
              </a:extLst>
            </p:cNvPr>
            <p:cNvSpPr txBox="1"/>
            <p:nvPr/>
          </p:nvSpPr>
          <p:spPr>
            <a:xfrm>
              <a:off x="5471560" y="3660731"/>
              <a:ext cx="282982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r>
                <a:rPr lang="en-US" altLang="ko-KR" sz="600" kern="1200" dirty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6.10</a:t>
              </a: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390" name="TextBox 389">
              <a:extLst>
                <a:ext uri="{FF2B5EF4-FFF2-40B4-BE49-F238E27FC236}">
                  <a16:creationId xmlns:a16="http://schemas.microsoft.com/office/drawing/2014/main" id="{16AB8F78-C831-0918-9363-36FD93CCCEBC}"/>
                </a:ext>
              </a:extLst>
            </p:cNvPr>
            <p:cNvSpPr txBox="1"/>
            <p:nvPr/>
          </p:nvSpPr>
          <p:spPr>
            <a:xfrm>
              <a:off x="5956844" y="3660731"/>
              <a:ext cx="282982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r>
                <a:rPr lang="en-US" altLang="ko-KR" sz="600" kern="1200" dirty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7.20</a:t>
              </a:r>
            </a:p>
          </p:txBody>
        </p:sp>
      </p:grpSp>
      <p:grpSp>
        <p:nvGrpSpPr>
          <p:cNvPr id="391" name="그룹 390">
            <a:extLst>
              <a:ext uri="{FF2B5EF4-FFF2-40B4-BE49-F238E27FC236}">
                <a16:creationId xmlns:a16="http://schemas.microsoft.com/office/drawing/2014/main" id="{8FC122D3-E0D9-2FB2-D4FC-9E4362B6506B}"/>
              </a:ext>
            </a:extLst>
          </p:cNvPr>
          <p:cNvGrpSpPr/>
          <p:nvPr/>
        </p:nvGrpSpPr>
        <p:grpSpPr>
          <a:xfrm>
            <a:off x="5471560" y="3469944"/>
            <a:ext cx="768266" cy="146860"/>
            <a:chOff x="5471560" y="3660731"/>
            <a:chExt cx="768266" cy="146860"/>
          </a:xfrm>
        </p:grpSpPr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D359D821-193B-DB7D-2A58-0DB6EE008DF0}"/>
                </a:ext>
              </a:extLst>
            </p:cNvPr>
            <p:cNvSpPr txBox="1"/>
            <p:nvPr/>
          </p:nvSpPr>
          <p:spPr>
            <a:xfrm>
              <a:off x="5471560" y="3660731"/>
              <a:ext cx="282982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r>
                <a:rPr lang="en-US" altLang="ko-KR" sz="600" kern="1200" dirty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5.00</a:t>
              </a: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  <p:sp>
          <p:nvSpPr>
            <p:cNvPr id="393" name="TextBox 392">
              <a:extLst>
                <a:ext uri="{FF2B5EF4-FFF2-40B4-BE49-F238E27FC236}">
                  <a16:creationId xmlns:a16="http://schemas.microsoft.com/office/drawing/2014/main" id="{ADEA23A7-B36E-4DED-F8FF-5433C8110370}"/>
                </a:ext>
              </a:extLst>
            </p:cNvPr>
            <p:cNvSpPr txBox="1"/>
            <p:nvPr/>
          </p:nvSpPr>
          <p:spPr>
            <a:xfrm>
              <a:off x="5956844" y="3660731"/>
              <a:ext cx="282982" cy="1468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lIns="27000" tIns="27000" rIns="27000" bIns="27000" rtlCol="0" anchor="ctr">
              <a:spAutoFit/>
            </a:bodyPr>
            <a:lstStyle/>
            <a:p>
              <a:pPr algn="ctr" defTabSz="685772" latinLnBrk="1">
                <a:buClrTx/>
                <a:defRPr/>
              </a:pPr>
              <a:r>
                <a:rPr lang="en-US" altLang="ko-KR" sz="600" kern="1200" dirty="0">
                  <a:solidFill>
                    <a:srgbClr val="FF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+mn-cs"/>
                </a:rPr>
                <a:t>5.95</a:t>
              </a:r>
              <a:endParaRPr lang="ko-KR" altLang="en-US" sz="600" kern="1200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endParaRPr>
            </a:p>
          </p:txBody>
        </p:sp>
      </p:grpSp>
      <p:pic>
        <p:nvPicPr>
          <p:cNvPr id="28" name="그림 27">
            <a:extLst>
              <a:ext uri="{FF2B5EF4-FFF2-40B4-BE49-F238E27FC236}">
                <a16:creationId xmlns:a16="http://schemas.microsoft.com/office/drawing/2014/main" id="{E9A826B2-9F9F-C35C-B19F-55A8BCB45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3824" y="3997794"/>
            <a:ext cx="2016288" cy="143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291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>
          <a:extLst>
            <a:ext uri="{FF2B5EF4-FFF2-40B4-BE49-F238E27FC236}">
              <a16:creationId xmlns:a16="http://schemas.microsoft.com/office/drawing/2014/main" id="{037E7048-45F6-EEBF-3414-40D217441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1">
            <a:extLst>
              <a:ext uri="{FF2B5EF4-FFF2-40B4-BE49-F238E27FC236}">
                <a16:creationId xmlns:a16="http://schemas.microsoft.com/office/drawing/2014/main" id="{6DF1770C-222F-9797-A2E2-5AE0A10F4D0F}"/>
              </a:ext>
            </a:extLst>
          </p:cNvPr>
          <p:cNvSpPr txBox="1"/>
          <p:nvPr/>
        </p:nvSpPr>
        <p:spPr>
          <a:xfrm>
            <a:off x="797425" y="193050"/>
            <a:ext cx="15516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r>
              <a:rPr lang="ko-KR" altLang="en-US" sz="700" dirty="0">
                <a:solidFill>
                  <a:schemeClr val="dk1"/>
                </a:solidFill>
              </a:rPr>
              <a:t>시뮬레이션 결과</a:t>
            </a:r>
            <a:endParaRPr sz="700" dirty="0">
              <a:solidFill>
                <a:schemeClr val="dk1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397" name="Google Shape;397;p31">
            <a:extLst>
              <a:ext uri="{FF2B5EF4-FFF2-40B4-BE49-F238E27FC236}">
                <a16:creationId xmlns:a16="http://schemas.microsoft.com/office/drawing/2014/main" id="{93FC8302-2781-D549-102C-2BF6124C22E2}"/>
              </a:ext>
            </a:extLst>
          </p:cNvPr>
          <p:cNvSpPr txBox="1"/>
          <p:nvPr/>
        </p:nvSpPr>
        <p:spPr>
          <a:xfrm>
            <a:off x="5848375" y="193050"/>
            <a:ext cx="1373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pPr>
              <a:buSzPts val="800"/>
            </a:pPr>
            <a:r>
              <a:rPr lang="en-US" altLang="ko-KR" sz="700" dirty="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-</a:t>
            </a:r>
            <a:endParaRPr sz="700" dirty="0"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sp>
        <p:nvSpPr>
          <p:cNvPr id="400" name="Google Shape;400;p31">
            <a:extLst>
              <a:ext uri="{FF2B5EF4-FFF2-40B4-BE49-F238E27FC236}">
                <a16:creationId xmlns:a16="http://schemas.microsoft.com/office/drawing/2014/main" id="{595045DE-5D91-3D1C-B764-07412C3994A1}"/>
              </a:ext>
            </a:extLst>
          </p:cNvPr>
          <p:cNvSpPr txBox="1"/>
          <p:nvPr/>
        </p:nvSpPr>
        <p:spPr>
          <a:xfrm>
            <a:off x="7871326" y="193050"/>
            <a:ext cx="11349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6" tIns="91426" rIns="91426" bIns="91426" anchor="t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altLang="ko" sz="700" dirty="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2025.0</a:t>
            </a:r>
            <a:r>
              <a:rPr lang="en-US" altLang="ko-KR" sz="700" dirty="0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rPr>
              <a:t>9.24</a:t>
            </a:r>
            <a:endParaRPr sz="700" dirty="0">
              <a:solidFill>
                <a:schemeClr val="dk1"/>
              </a:solidFill>
              <a:latin typeface="Gothic A1 Medium"/>
              <a:ea typeface="Gothic A1 Medium"/>
              <a:cs typeface="Gothic A1 Medium"/>
              <a:sym typeface="Gothic A1 Medium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0B83E05-04C0-61AA-029D-74D8D5BCD3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4508812"/>
              </p:ext>
            </p:extLst>
          </p:nvPr>
        </p:nvGraphicFramePr>
        <p:xfrm>
          <a:off x="6777710" y="510828"/>
          <a:ext cx="2228517" cy="21105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55">
                  <a:extLst>
                    <a:ext uri="{9D8B030D-6E8A-4147-A177-3AD203B41FA5}">
                      <a16:colId xmlns:a16="http://schemas.microsoft.com/office/drawing/2014/main" val="1649533771"/>
                    </a:ext>
                  </a:extLst>
                </a:gridCol>
                <a:gridCol w="1935362">
                  <a:extLst>
                    <a:ext uri="{9D8B030D-6E8A-4147-A177-3AD203B41FA5}">
                      <a16:colId xmlns:a16="http://schemas.microsoft.com/office/drawing/2014/main" val="1453130143"/>
                    </a:ext>
                  </a:extLst>
                </a:gridCol>
              </a:tblGrid>
              <a:tr h="181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i="0" u="none" strike="noStrike" cap="none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화면 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2977616065"/>
                  </a:ext>
                </a:extLst>
              </a:tr>
              <a:tr h="181728">
                <a:tc gridSpan="2">
                  <a:txBody>
                    <a:bodyPr/>
                    <a:lstStyle/>
                    <a:p>
                      <a:pPr algn="l" latinLnBrk="1">
                        <a:lnSpc>
                          <a:spcPct val="120000"/>
                        </a:lnSpc>
                      </a:pP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sym typeface="Arial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7687718"/>
                  </a:ext>
                </a:extLst>
              </a:tr>
              <a:tr h="181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  <a:endParaRPr lang="ko-KR" altLang="en-US" sz="700" b="1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Description</a:t>
                      </a:r>
                      <a:endParaRPr lang="ko-KR" altLang="en-US" sz="7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41008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 Medium"/>
                          <a:sym typeface="Gothic A1 Medium"/>
                        </a:rPr>
                        <a:t>1</a:t>
                      </a:r>
                      <a:endParaRPr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altLang="ko-KR" sz="600" b="1" i="0" u="none" strike="noStrike" cap="none" dirty="0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AI </a:t>
                      </a:r>
                      <a:r>
                        <a:rPr lang="ko-KR" altLang="en-US" sz="600" b="1" i="0" u="none" strike="noStrike" cap="none" dirty="0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에이전트 확대 상태</a:t>
                      </a:r>
                    </a:p>
                    <a:p>
                      <a:pPr marL="133200" lvl="0" indent="-84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600"/>
                        <a:buFont typeface="Gothic A1"/>
                        <a:buChar char="-"/>
                      </a:pP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시뮬레이션 결과를 노출</a:t>
                      </a: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43934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 Medium"/>
                          <a:sym typeface="Gothic A1 Medium"/>
                        </a:rPr>
                        <a:t>2</a:t>
                      </a:r>
                      <a:endParaRPr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600" b="1" i="0" u="none" strike="noStrike" cap="none" dirty="0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실패 시 시뮬레이션 재시작 버튼</a:t>
                      </a:r>
                    </a:p>
                    <a:p>
                      <a:pPr marL="133200" lvl="0" indent="-84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600"/>
                        <a:buFont typeface="Gothic A1"/>
                        <a:buChar char="-"/>
                      </a:pPr>
                      <a:r>
                        <a:rPr kumimoji="1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AI</a:t>
                      </a: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 가 제안한 시뮬레이션 재시작 </a:t>
                      </a: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9426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 Medium"/>
                          <a:sym typeface="Gothic A1 Medium"/>
                        </a:rPr>
                        <a:t>2</a:t>
                      </a:r>
                      <a:endParaRPr sz="600" dirty="0"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altLang="en-US" sz="600" b="1" i="0" u="none" strike="noStrike" cap="none" dirty="0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성공 시 </a:t>
                      </a:r>
                      <a:r>
                        <a:rPr lang="ko-KR" altLang="en-US" sz="600" b="1" i="0" u="none" strike="noStrike" cap="none" dirty="0" err="1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리트로</a:t>
                      </a:r>
                      <a:r>
                        <a:rPr lang="ko-KR" altLang="en-US" sz="600" b="1" i="0" u="none" strike="noStrike" cap="none" dirty="0">
                          <a:solidFill>
                            <a:schemeClr val="lt1"/>
                          </a:solidFill>
                          <a:highlight>
                            <a:srgbClr val="434343"/>
                          </a:highlight>
                          <a:latin typeface="맑은 고딕" panose="020B0503020000020004" pitchFamily="50" charset="-127"/>
                          <a:ea typeface="+mn-ea"/>
                          <a:cs typeface="Gothic A1"/>
                          <a:sym typeface="Gothic A1"/>
                        </a:rPr>
                        <a:t> 핏 저장 버튼</a:t>
                      </a:r>
                    </a:p>
                    <a:p>
                      <a:pPr marL="133200" lvl="0" indent="-84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66666"/>
                        </a:buClr>
                        <a:buSzPts val="600"/>
                        <a:buFont typeface="Gothic A1"/>
                        <a:buChar char="-"/>
                      </a:pP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시뮬레이션 성공 시 </a:t>
                      </a:r>
                      <a:r>
                        <a:rPr kumimoji="1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2</a:t>
                      </a: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의 위치에 </a:t>
                      </a:r>
                      <a:r>
                        <a:rPr kumimoji="1" lang="ko-KR" altLang="en-US" sz="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리트로핏</a:t>
                      </a: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 저장 버튼을 생성</a:t>
                      </a:r>
                      <a:r>
                        <a:rPr kumimoji="1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. </a:t>
                      </a: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클릭 시 입력된 </a:t>
                      </a:r>
                      <a:r>
                        <a:rPr kumimoji="1" lang="ko-KR" altLang="en-US" sz="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리트로핏을</a:t>
                      </a: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 저장 후 </a:t>
                      </a:r>
                      <a:r>
                        <a:rPr kumimoji="1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PDF </a:t>
                      </a:r>
                      <a:r>
                        <a:rPr kumimoji="1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Gothic A1"/>
                          <a:sym typeface="Gothic A1"/>
                        </a:rPr>
                        <a:t>로 다운로드</a:t>
                      </a: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503632"/>
                  </a:ext>
                </a:extLst>
              </a:tr>
              <a:tr h="18172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rgbClr val="FFFF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필요사항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421113"/>
                  </a:ext>
                </a:extLst>
              </a:tr>
              <a:tr h="23872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0" i="0" u="none" strike="noStrike" cap="none" dirty="0">
                        <a:solidFill>
                          <a:schemeClr val="dk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 Medium"/>
                        <a:sym typeface="Gothic A1 Medium"/>
                      </a:endParaRPr>
                    </a:p>
                  </a:txBody>
                  <a:tcPr marL="78200" marR="78200" marT="54000" marB="54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Gothic A1"/>
                        <a:sym typeface="Gothic A1"/>
                      </a:endParaRPr>
                    </a:p>
                  </a:txBody>
                  <a:tcPr marL="43200" marR="43200" marT="54000" marB="54000" anchor="ctr">
                    <a:lnL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1942893"/>
                  </a:ext>
                </a:extLst>
              </a:tr>
            </a:tbl>
          </a:graphicData>
        </a:graphic>
      </p:graphicFrame>
      <p:sp>
        <p:nvSpPr>
          <p:cNvPr id="40" name="직사각형 39">
            <a:extLst>
              <a:ext uri="{FF2B5EF4-FFF2-40B4-BE49-F238E27FC236}">
                <a16:creationId xmlns:a16="http://schemas.microsoft.com/office/drawing/2014/main" id="{AA926481-D407-1EF6-560B-34546AB29BF9}"/>
              </a:ext>
            </a:extLst>
          </p:cNvPr>
          <p:cNvSpPr/>
          <p:nvPr/>
        </p:nvSpPr>
        <p:spPr>
          <a:xfrm>
            <a:off x="195385" y="534809"/>
            <a:ext cx="6474216" cy="4776229"/>
          </a:xfrm>
          <a:prstGeom prst="rect">
            <a:avLst/>
          </a:prstGeom>
          <a:pattFill prst="ltUpDiag">
            <a:fgClr>
              <a:schemeClr val="bg1">
                <a:lumMod val="85000"/>
              </a:schemeClr>
            </a:fgClr>
            <a:bgClr>
              <a:schemeClr val="bg1"/>
            </a:bgClr>
          </a:patt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700" i="1" dirty="0">
              <a:solidFill>
                <a:schemeClr val="bg1">
                  <a:lumMod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4" name="직사각형 393">
            <a:extLst>
              <a:ext uri="{FF2B5EF4-FFF2-40B4-BE49-F238E27FC236}">
                <a16:creationId xmlns:a16="http://schemas.microsoft.com/office/drawing/2014/main" id="{5831BEAF-C0BA-DA73-DE0B-D8A733E7BA04}"/>
              </a:ext>
            </a:extLst>
          </p:cNvPr>
          <p:cNvSpPr/>
          <p:nvPr/>
        </p:nvSpPr>
        <p:spPr>
          <a:xfrm>
            <a:off x="151661" y="510828"/>
            <a:ext cx="6517939" cy="20930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7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Gnb</a:t>
            </a:r>
            <a:endParaRPr lang="ko-KR" altLang="en-US" sz="7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50A77D3-0AFB-41DF-4EB1-5A1CE8D6047B}"/>
              </a:ext>
            </a:extLst>
          </p:cNvPr>
          <p:cNvSpPr/>
          <p:nvPr/>
        </p:nvSpPr>
        <p:spPr>
          <a:xfrm>
            <a:off x="348619" y="1088212"/>
            <a:ext cx="3165397" cy="4149828"/>
          </a:xfrm>
          <a:prstGeom prst="roundRect">
            <a:avLst>
              <a:gd name="adj" fmla="val 3794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7KL </a:t>
            </a:r>
            <a:r>
              <a:rPr lang="ko-KR" altLang="en-US" dirty="0"/>
              <a:t>발효시스템 </a:t>
            </a:r>
            <a:r>
              <a:rPr lang="en-US" altLang="ko-KR" dirty="0"/>
              <a:t>DT</a:t>
            </a:r>
            <a:endParaRPr lang="ko-KR" altLang="en-US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608C4B0-91A9-770C-87D3-F359C09C8759}"/>
              </a:ext>
            </a:extLst>
          </p:cNvPr>
          <p:cNvSpPr/>
          <p:nvPr/>
        </p:nvSpPr>
        <p:spPr>
          <a:xfrm>
            <a:off x="348619" y="868354"/>
            <a:ext cx="503869" cy="146860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600" kern="120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배양온도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FB68CC29-75E9-F439-E2DF-18B90282558B}"/>
              </a:ext>
            </a:extLst>
          </p:cNvPr>
          <p:cNvSpPr/>
          <p:nvPr/>
        </p:nvSpPr>
        <p:spPr>
          <a:xfrm>
            <a:off x="896212" y="868354"/>
            <a:ext cx="503869" cy="14686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600" kern="120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압력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D940EFF-AA7D-BA97-78BC-A70EFA9D6877}"/>
              </a:ext>
            </a:extLst>
          </p:cNvPr>
          <p:cNvSpPr/>
          <p:nvPr/>
        </p:nvSpPr>
        <p:spPr>
          <a:xfrm>
            <a:off x="1443805" y="868354"/>
            <a:ext cx="503869" cy="14686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en-US" altLang="ko-KR" sz="600" kern="120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pH</a:t>
            </a:r>
            <a:endParaRPr lang="ko-KR" altLang="en-US" sz="600" kern="1200" dirty="0">
              <a:solidFill>
                <a:prstClr val="whit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8EAF696-316E-6BC0-E2E5-80D05D35F173}"/>
              </a:ext>
            </a:extLst>
          </p:cNvPr>
          <p:cNvSpPr/>
          <p:nvPr/>
        </p:nvSpPr>
        <p:spPr>
          <a:xfrm>
            <a:off x="1995972" y="868354"/>
            <a:ext cx="503869" cy="14686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600" kern="1200" dirty="0" err="1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용존산소</a:t>
            </a:r>
            <a:endParaRPr lang="ko-KR" altLang="en-US" sz="600" kern="1200" dirty="0">
              <a:solidFill>
                <a:prstClr val="whit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0625471-3CB4-C8CC-E167-4AF73E7D34A6}"/>
              </a:ext>
            </a:extLst>
          </p:cNvPr>
          <p:cNvSpPr/>
          <p:nvPr/>
        </p:nvSpPr>
        <p:spPr>
          <a:xfrm>
            <a:off x="4004354" y="1108544"/>
            <a:ext cx="2530257" cy="2946773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</a:t>
            </a:r>
            <a:r>
              <a:rPr lang="ko-KR" altLang="en-US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8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agent</a:t>
            </a:r>
            <a:endParaRPr lang="ko-KR" altLang="en-US" sz="800" b="1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58CAFA19-4B75-BC66-1149-B63EB5FE1901}"/>
              </a:ext>
            </a:extLst>
          </p:cNvPr>
          <p:cNvSpPr/>
          <p:nvPr/>
        </p:nvSpPr>
        <p:spPr>
          <a:xfrm>
            <a:off x="4122598" y="1341837"/>
            <a:ext cx="2293769" cy="2352224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시뮬레이션 결과 노출</a:t>
            </a:r>
            <a:r>
              <a:rPr lang="en-US" altLang="ko-KR" sz="8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8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성공</a:t>
            </a:r>
            <a:r>
              <a:rPr lang="en-US" altLang="ko-KR" sz="8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8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실패</a:t>
            </a:r>
            <a:r>
              <a:rPr lang="en-US" altLang="ko-KR" sz="8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algn="ctr"/>
            <a:endParaRPr lang="en-US" altLang="ko-KR" sz="800" b="1" dirty="0">
              <a:solidFill>
                <a:schemeClr val="bg2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8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결과와 </a:t>
            </a:r>
            <a:r>
              <a:rPr lang="ko-KR" altLang="en-US" sz="800" b="1" dirty="0" err="1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챗봇이</a:t>
            </a:r>
            <a:r>
              <a:rPr lang="ko-KR" altLang="en-US" sz="8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수치 조정을 제안</a:t>
            </a:r>
            <a:endParaRPr lang="en-US" altLang="ko-KR" sz="800" b="1" dirty="0">
              <a:solidFill>
                <a:schemeClr val="bg2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8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바로 수정하여 재 시뮬레이션</a:t>
            </a:r>
            <a:r>
              <a:rPr lang="en-US" altLang="ko-KR" sz="8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8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후</a:t>
            </a:r>
            <a:endParaRPr lang="en-US" altLang="ko-KR" sz="800" b="1" dirty="0">
              <a:solidFill>
                <a:schemeClr val="bg2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8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성공 케이스 노출</a:t>
            </a:r>
            <a:r>
              <a:rPr lang="en-US" altLang="ko-KR" sz="800" b="1" dirty="0">
                <a:solidFill>
                  <a:schemeClr val="bg2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6BA2B93B-BAF8-D6D0-6173-D3D82BEDC115}"/>
              </a:ext>
            </a:extLst>
          </p:cNvPr>
          <p:cNvSpPr/>
          <p:nvPr/>
        </p:nvSpPr>
        <p:spPr>
          <a:xfrm>
            <a:off x="6061912" y="3773435"/>
            <a:ext cx="354456" cy="162660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ko-KR" altLang="en-US" sz="600" b="1" kern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대화</a:t>
            </a:r>
            <a:endParaRPr lang="en-US" altLang="ko-KR" sz="600" b="1" kern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3937E46-5CB8-51CE-AFE4-84B60F186CEC}"/>
              </a:ext>
            </a:extLst>
          </p:cNvPr>
          <p:cNvSpPr/>
          <p:nvPr/>
        </p:nvSpPr>
        <p:spPr>
          <a:xfrm>
            <a:off x="4122599" y="3773435"/>
            <a:ext cx="1859102" cy="16266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6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Text</a:t>
            </a:r>
            <a:endParaRPr lang="ko-KR" altLang="en-US" sz="6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A153EFA9-0A81-3B16-FEE8-4A85731D5585}"/>
              </a:ext>
            </a:extLst>
          </p:cNvPr>
          <p:cNvSpPr/>
          <p:nvPr/>
        </p:nvSpPr>
        <p:spPr>
          <a:xfrm>
            <a:off x="4587213" y="3163126"/>
            <a:ext cx="1359562" cy="162660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en-US" altLang="ko-KR" sz="600" b="1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600" b="1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실패</a:t>
            </a:r>
            <a:r>
              <a:rPr lang="en-US" altLang="ko-KR" sz="600" b="1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!) Ai </a:t>
            </a:r>
            <a:r>
              <a:rPr lang="ko-KR" altLang="en-US" sz="600" b="1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보정 값으로 재시작</a:t>
            </a:r>
            <a:endParaRPr lang="en-US" altLang="ko-KR" sz="600" b="1" kern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648AD860-E8E3-3EF6-F1C7-C5C610CCD2B4}"/>
              </a:ext>
            </a:extLst>
          </p:cNvPr>
          <p:cNvSpPr/>
          <p:nvPr/>
        </p:nvSpPr>
        <p:spPr>
          <a:xfrm>
            <a:off x="3934180" y="1077769"/>
            <a:ext cx="2665628" cy="3056922"/>
          </a:xfrm>
          <a:prstGeom prst="roundRect">
            <a:avLst>
              <a:gd name="adj" fmla="val 2995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Google Shape;208;p21">
            <a:extLst>
              <a:ext uri="{FF2B5EF4-FFF2-40B4-BE49-F238E27FC236}">
                <a16:creationId xmlns:a16="http://schemas.microsoft.com/office/drawing/2014/main" id="{48214468-45D0-8446-115E-F2B56E93253B}"/>
              </a:ext>
            </a:extLst>
          </p:cNvPr>
          <p:cNvSpPr/>
          <p:nvPr/>
        </p:nvSpPr>
        <p:spPr>
          <a:xfrm>
            <a:off x="3842173" y="978854"/>
            <a:ext cx="173849" cy="189899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28575" dir="264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600" b="1" dirty="0">
                <a:latin typeface="Gothic A1"/>
                <a:ea typeface="Gothic A1"/>
                <a:cs typeface="Gothic A1"/>
                <a:sym typeface="Gothic A1"/>
              </a:rPr>
              <a:t>1</a:t>
            </a:r>
            <a:endParaRPr sz="600" b="1" dirty="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2" name="Google Shape;208;p21">
            <a:extLst>
              <a:ext uri="{FF2B5EF4-FFF2-40B4-BE49-F238E27FC236}">
                <a16:creationId xmlns:a16="http://schemas.microsoft.com/office/drawing/2014/main" id="{37C16362-2B55-9EA9-8F75-7B4DA8E5DCE7}"/>
              </a:ext>
            </a:extLst>
          </p:cNvPr>
          <p:cNvSpPr/>
          <p:nvPr/>
        </p:nvSpPr>
        <p:spPr>
          <a:xfrm>
            <a:off x="4451642" y="3054557"/>
            <a:ext cx="173849" cy="189899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28575" dir="264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600" b="1" dirty="0">
                <a:latin typeface="Gothic A1"/>
                <a:ea typeface="Gothic A1"/>
                <a:cs typeface="Gothic A1"/>
                <a:sym typeface="Gothic A1"/>
              </a:rPr>
              <a:t>2</a:t>
            </a:r>
            <a:endParaRPr sz="600" b="1" dirty="0"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02856FC-A948-496F-FC04-4C8C047400EF}"/>
              </a:ext>
            </a:extLst>
          </p:cNvPr>
          <p:cNvSpPr/>
          <p:nvPr/>
        </p:nvSpPr>
        <p:spPr>
          <a:xfrm>
            <a:off x="4572000" y="3469917"/>
            <a:ext cx="1359562" cy="162660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772" latinLnBrk="1">
              <a:buClrTx/>
              <a:defRPr/>
            </a:pPr>
            <a:r>
              <a:rPr lang="en-US" altLang="ko-KR" sz="600" b="1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600" b="1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성공</a:t>
            </a:r>
            <a:r>
              <a:rPr lang="en-US" altLang="ko-KR" sz="600" b="1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!) </a:t>
            </a:r>
            <a:r>
              <a:rPr lang="ko-KR" altLang="en-US" sz="600" b="1" kern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리트로핏</a:t>
            </a:r>
            <a:r>
              <a:rPr lang="ko-KR" altLang="en-US" sz="600" b="1" kern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저장</a:t>
            </a:r>
            <a:endParaRPr lang="en-US" altLang="ko-KR" sz="600" b="1" kern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Google Shape;208;p21">
            <a:extLst>
              <a:ext uri="{FF2B5EF4-FFF2-40B4-BE49-F238E27FC236}">
                <a16:creationId xmlns:a16="http://schemas.microsoft.com/office/drawing/2014/main" id="{0297B7EB-4785-1D7B-83C6-8889DECEE7FC}"/>
              </a:ext>
            </a:extLst>
          </p:cNvPr>
          <p:cNvSpPr/>
          <p:nvPr/>
        </p:nvSpPr>
        <p:spPr>
          <a:xfrm>
            <a:off x="4451642" y="3394105"/>
            <a:ext cx="173849" cy="189899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  <a:effectLst>
            <a:outerShdw blurRad="28575" dist="28575" dir="2640000" algn="bl" rotWithShape="0">
              <a:srgbClr val="000000">
                <a:alpha val="60000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algn="ctr"/>
            <a:r>
              <a:rPr lang="en-US" sz="600" b="1" dirty="0">
                <a:latin typeface="Gothic A1"/>
                <a:ea typeface="Gothic A1"/>
                <a:cs typeface="Gothic A1"/>
                <a:sym typeface="Gothic A1"/>
              </a:rPr>
              <a:t>3</a:t>
            </a:r>
            <a:endParaRPr sz="600" b="1" dirty="0">
              <a:latin typeface="Gothic A1"/>
              <a:ea typeface="Gothic A1"/>
              <a:cs typeface="Gothic A1"/>
              <a:sym typeface="Gothic A1"/>
            </a:endParaRPr>
          </a:p>
        </p:txBody>
      </p:sp>
    </p:spTree>
    <p:extLst>
      <p:ext uri="{BB962C8B-B14F-4D97-AF65-F5344CB8AC3E}">
        <p14:creationId xmlns:p14="http://schemas.microsoft.com/office/powerpoint/2010/main" val="407234336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22568</TotalTime>
  <Words>1204</Words>
  <Application>Microsoft Office PowerPoint</Application>
  <PresentationFormat>화면 슬라이드 쇼(16:10)</PresentationFormat>
  <Paragraphs>547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Gothic A1</vt:lpstr>
      <vt:lpstr>Gothic A1 Medium</vt:lpstr>
      <vt:lpstr>Noto Sans KR</vt:lpstr>
      <vt:lpstr>맑은 고딕</vt:lpstr>
      <vt:lpstr>한화고딕 L</vt:lpstr>
      <vt:lpstr>Arial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goeun lee</cp:lastModifiedBy>
  <cp:revision>4909</cp:revision>
  <dcterms:modified xsi:type="dcterms:W3CDTF">2025-11-14T02:40:50Z</dcterms:modified>
</cp:coreProperties>
</file>